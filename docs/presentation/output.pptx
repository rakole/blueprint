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f4e485a90040d9" /><Relationship Type="http://schemas.openxmlformats.org/officeDocument/2006/relationships/extended-properties" Target="/docProps/app.xml" Id="Rf53f5e7aae394961" /><Relationship Type="http://schemas.openxmlformats.org/officeDocument/2006/relationships/officeDocument" Target="/ppt/presentation.xml" Id="R6bc5126dba9748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0fdc94f3c840c5"/>
  </p:sldMasterIdLst>
  <p:notesMasterIdLst>
    <p:notesMasterId xmlns:r="http://schemas.openxmlformats.org/officeDocument/2006/relationships" r:id="Rd1d0e48f5a4e4f77"/>
  </p:notesMasterIdLst>
  <p:sldIdLst>
    <p:sldId xmlns:r="http://schemas.openxmlformats.org/officeDocument/2006/relationships" id="256" r:id="Raaeef2a6fe154bcf"/>
    <p:sldId xmlns:r="http://schemas.openxmlformats.org/officeDocument/2006/relationships" id="257" r:id="R0b388d88d6764f4f"/>
    <p:sldId xmlns:r="http://schemas.openxmlformats.org/officeDocument/2006/relationships" id="258" r:id="Ra347ebf4541c470d"/>
    <p:sldId xmlns:r="http://schemas.openxmlformats.org/officeDocument/2006/relationships" id="259" r:id="R05fdea7a81994b15"/>
    <p:sldId xmlns:r="http://schemas.openxmlformats.org/officeDocument/2006/relationships" id="260" r:id="R1421f508149a4c8f"/>
    <p:sldId xmlns:r="http://schemas.openxmlformats.org/officeDocument/2006/relationships" id="261" r:id="Rc33b17ab035548ae"/>
    <p:sldId xmlns:r="http://schemas.openxmlformats.org/officeDocument/2006/relationships" id="262" r:id="Re050b947c0ca4d99"/>
    <p:sldId xmlns:r="http://schemas.openxmlformats.org/officeDocument/2006/relationships" id="263" r:id="Rf6d766980dcb4e2e"/>
    <p:sldId xmlns:r="http://schemas.openxmlformats.org/officeDocument/2006/relationships" id="264" r:id="Re46ed84994bb4ea4"/>
    <p:sldId xmlns:r="http://schemas.openxmlformats.org/officeDocument/2006/relationships" id="265" r:id="R499294cff9a94197"/>
    <p:sldId xmlns:r="http://schemas.openxmlformats.org/officeDocument/2006/relationships" id="266" r:id="Radc70759fa434ed0"/>
    <p:sldId xmlns:r="http://schemas.openxmlformats.org/officeDocument/2006/relationships" id="267" r:id="Rc981d59eb58d436f"/>
    <p:sldId xmlns:r="http://schemas.openxmlformats.org/officeDocument/2006/relationships" id="268" r:id="Rdb459c661140415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0fdc94f3c840c5" /><Relationship Type="http://schemas.openxmlformats.org/officeDocument/2006/relationships/theme" Target="/ppt/theme/theme1.xml" Id="R151cfcc3ba0948b4" /><Relationship Type="http://schemas.openxmlformats.org/officeDocument/2006/relationships/notesMaster" Target="/ppt/notesMasters/notesMaster1.xml" Id="Rd1d0e48f5a4e4f77" /><Relationship Type="http://schemas.openxmlformats.org/officeDocument/2006/relationships/presProps" Target="/ppt/presProps.xml" Id="Rb40b430c06974a73" /><Relationship Type="http://schemas.openxmlformats.org/officeDocument/2006/relationships/viewProps" Target="/ppt/viewProps.xml" Id="R5e40f11fc6b24fab" /><Relationship Type="http://schemas.openxmlformats.org/officeDocument/2006/relationships/tableStyles" Target="/ppt/tableStyles.xml" Id="R1bc155400a054e6a" /><Relationship Type="http://schemas.openxmlformats.org/officeDocument/2006/relationships/slide" Target="/ppt/slides/slide1.xml" Id="Raaeef2a6fe154bcf" /><Relationship Type="http://schemas.openxmlformats.org/officeDocument/2006/relationships/slide" Target="/ppt/slides/slide2.xml" Id="R0b388d88d6764f4f" /><Relationship Type="http://schemas.openxmlformats.org/officeDocument/2006/relationships/slide" Target="/ppt/slides/slide3.xml" Id="Ra347ebf4541c470d" /><Relationship Type="http://schemas.openxmlformats.org/officeDocument/2006/relationships/slide" Target="/ppt/slides/slide4.xml" Id="R05fdea7a81994b15" /><Relationship Type="http://schemas.openxmlformats.org/officeDocument/2006/relationships/slide" Target="/ppt/slides/slide5.xml" Id="R1421f508149a4c8f" /><Relationship Type="http://schemas.openxmlformats.org/officeDocument/2006/relationships/slide" Target="/ppt/slides/slide6.xml" Id="Rc33b17ab035548ae" /><Relationship Type="http://schemas.openxmlformats.org/officeDocument/2006/relationships/slide" Target="/ppt/slides/slide7.xml" Id="Re050b947c0ca4d99" /><Relationship Type="http://schemas.openxmlformats.org/officeDocument/2006/relationships/slide" Target="/ppt/slides/slide8.xml" Id="Rf6d766980dcb4e2e" /><Relationship Type="http://schemas.openxmlformats.org/officeDocument/2006/relationships/slide" Target="/ppt/slides/slide9.xml" Id="Re46ed84994bb4ea4" /><Relationship Type="http://schemas.openxmlformats.org/officeDocument/2006/relationships/slide" Target="/ppt/slides/slide10.xml" Id="R499294cff9a94197" /><Relationship Type="http://schemas.openxmlformats.org/officeDocument/2006/relationships/slide" Target="/ppt/slides/slide11.xml" Id="Radc70759fa434ed0" /><Relationship Type="http://schemas.openxmlformats.org/officeDocument/2006/relationships/slide" Target="/ppt/slides/slide12.xml" Id="Rc981d59eb58d436f" /><Relationship Type="http://schemas.openxmlformats.org/officeDocument/2006/relationships/slide" Target="/ppt/slides/slide13.xml" Id="Rdb459c66114041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b137ff9e02e4c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e66bc373424e9d" /><Relationship Type="http://schemas.openxmlformats.org/officeDocument/2006/relationships/notesMaster" Target="/ppt/notesMasters/notesMaster1.xml" Id="R4406d3177c0d46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7d7406e73a4a12" /><Relationship Type="http://schemas.openxmlformats.org/officeDocument/2006/relationships/notesMaster" Target="/ppt/notesMasters/notesMaster1.xml" Id="Rcd81fc5490764c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693ecbf5954c60" /><Relationship Type="http://schemas.openxmlformats.org/officeDocument/2006/relationships/notesMaster" Target="/ppt/notesMasters/notesMaster1.xml" Id="R2e2522a180ba4f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83a8f8aaec4fb0" /><Relationship Type="http://schemas.openxmlformats.org/officeDocument/2006/relationships/notesMaster" Target="/ppt/notesMasters/notesMaster1.xml" Id="R0eeca7af86994e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b84e6aa5ac45aa" /><Relationship Type="http://schemas.openxmlformats.org/officeDocument/2006/relationships/notesMaster" Target="/ppt/notesMasters/notesMaster1.xml" Id="R9d8887376fdc43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0aadb892594cac" /><Relationship Type="http://schemas.openxmlformats.org/officeDocument/2006/relationships/notesMaster" Target="/ppt/notesMasters/notesMaster1.xml" Id="R9b94c999105648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187274df4f40c7" /><Relationship Type="http://schemas.openxmlformats.org/officeDocument/2006/relationships/notesMaster" Target="/ppt/notesMasters/notesMaster1.xml" Id="R85a7d490cf0d47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b0f59b09d44ee7" /><Relationship Type="http://schemas.openxmlformats.org/officeDocument/2006/relationships/notesMaster" Target="/ppt/notesMasters/notesMaster1.xml" Id="R94e2c50b3ee44c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3a83dcc6484b12" /><Relationship Type="http://schemas.openxmlformats.org/officeDocument/2006/relationships/notesMaster" Target="/ppt/notesMasters/notesMaster1.xml" Id="Rf199b09d7eae4a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322567fb0c4ca2" /><Relationship Type="http://schemas.openxmlformats.org/officeDocument/2006/relationships/notesMaster" Target="/ppt/notesMasters/notesMaster1.xml" Id="Rf5c0e5e170274d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ea07669b664fe3" /><Relationship Type="http://schemas.openxmlformats.org/officeDocument/2006/relationships/notesMaster" Target="/ppt/notesMasters/notesMaster1.xml" Id="R1050b782d9ee42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d44aaee4354252" /><Relationship Type="http://schemas.openxmlformats.org/officeDocument/2006/relationships/notesMaster" Target="/ppt/notesMasters/notesMaster1.xml" Id="R21c420f82aba4e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cbaf5cd7bf4b63" /><Relationship Type="http://schemas.openxmlformats.org/officeDocument/2006/relationships/notesMaster" Target="/ppt/notesMasters/notesMaster1.xml" Id="R1d2dc66a14df4e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positioning Blueprint as workflow infrastructure, not a magic code generator. The promise is continuity: when the chat resets or the human changes, the repo still knows what happened.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a quick show of hands. The point is not to debate agents yet; it is to let the team name the operational risks that Blueprint is designed around.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conversational. Everyone has seen code appear quickly; the pain starts when the team has to review, resume, or explain it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simplest mental model. Blueprint is not replacing engineering judgment; it gives agent sessions a durable operating system inside the repo.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state boundary concrete. Blueprint runtime state is .blueprint, not ad-hoc hidden files and not the extension install directory.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architecture slide to slow down on. The key phrase: commands, skills, and agents orchestrate; MCP owns structured persistence.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trust slide. Docs may describe future work, but the root router and help surfaces stay aligned with runtime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panel trio is an allowed artifact surface: these are actual documents, not generic text boxes. The phrase to land: execution alone is not completion.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overexplain every command. The conceptual split matters more: not all actions have the same blast radius, so Blueprint does not treat them the same.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adoption psychology slide. The goal is not to make agents seem less risky by hand-waving; it is to show how risk becomes visible and discussable.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precise: impact is the next logical capability, but it is not a shipped public command yet. This reinforces the implemented-only routing story rather than undermining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a concrete ask. The live demo can now show the path instead of trying to justify why the path matters.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c2d7d9fbac44e3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b7d33485840a2" /><Relationship Type="http://schemas.openxmlformats.org/officeDocument/2006/relationships/theme" Target="/ppt/theme/theme1.xml" Id="R906429b399ff4fb4" /><Relationship Type="http://schemas.openxmlformats.org/officeDocument/2006/relationships/slideLayout" Target="/ppt/slideLayouts/slideLayout2.xml" Id="R5b6f46337e6042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26bb7d33485840a2"/>
    <p:sldLayoutId xmlns:r="http://schemas.openxmlformats.org/officeDocument/2006/relationships" id="2147483649" r:id="R5b6f46337e6042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5c67bb16384863" /><Relationship Type="http://schemas.openxmlformats.org/officeDocument/2006/relationships/notesSlide" Target="/ppt/notesSlides/notesSlide1.xml" Id="R206280747f6c40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8c45edf68b40e3" /><Relationship Type="http://schemas.openxmlformats.org/officeDocument/2006/relationships/notesSlide" Target="/ppt/notesSlides/notesSlide2.xml" Id="R831a247263924b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1c850fd799461f" /><Relationship Type="http://schemas.openxmlformats.org/officeDocument/2006/relationships/notesSlide" Target="/ppt/notesSlides/notesSlide3.xml" Id="R5a4384e163fc4f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f387c8d6174e99" /><Relationship Type="http://schemas.openxmlformats.org/officeDocument/2006/relationships/notesSlide" Target="/ppt/notesSlides/notesSlide4.xml" Id="R363ca8e888f746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7f03df1a3a4b78" /><Relationship Type="http://schemas.openxmlformats.org/officeDocument/2006/relationships/notesSlide" Target="/ppt/notesSlides/notesSlide5.xml" Id="R0b03bb680b3543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47c8e63d9243ae" /><Relationship Type="http://schemas.openxmlformats.org/officeDocument/2006/relationships/notesSlide" Target="/ppt/notesSlides/notesSlide6.xml" Id="R0c1033058c9941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b003293a44d15" /><Relationship Type="http://schemas.openxmlformats.org/officeDocument/2006/relationships/notesSlide" Target="/ppt/notesSlides/notesSlide7.xml" Id="R58dbcf73f3784c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29ee7aa03d4ce6" /><Relationship Type="http://schemas.openxmlformats.org/officeDocument/2006/relationships/notesSlide" Target="/ppt/notesSlides/notesSlide8.xml" Id="Ref6e781124cc40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4accf90e97487a" /><Relationship Type="http://schemas.openxmlformats.org/officeDocument/2006/relationships/notesSlide" Target="/ppt/notesSlides/notesSlide9.xml" Id="R6ca1d47053aa42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c591e7eb374c0b" /><Relationship Type="http://schemas.openxmlformats.org/officeDocument/2006/relationships/notesSlide" Target="/ppt/notesSlides/notesSlide10.xml" Id="Rc47434d4802a4b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aec8a089f74dfb" /><Relationship Type="http://schemas.openxmlformats.org/officeDocument/2006/relationships/notesSlide" Target="/ppt/notesSlides/notesSlide11.xml" Id="R3c88ae37fe4540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079df87a324126" /><Relationship Type="http://schemas.openxmlformats.org/officeDocument/2006/relationships/notesSlide" Target="/ppt/notesSlides/notesSlide12.xml" Id="R2e2467178f1c42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212760768b4460" /><Relationship Type="http://schemas.openxmlformats.org/officeDocument/2006/relationships/notesSlide" Target="/ppt/notesSlides/notesSlide13.xml" Id="Ra3397c9d5d2d492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BAB7C2-B27A-41DA-8442-A957714C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2"/>
          </a:solidFill>
          <a:ln xmlns:a="http://schemas.openxmlformats.org/drawingml/2006/main" w="0">
            <a:solidFill>
              <a:srgbClr val="1320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722A2-062A-489D-B475-75BF0D17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2ACDA-6CBB-4218-A0C7-4C100E79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C"/>
          </a:solidFill>
          <a:ln xmlns:a="http://schemas.openxmlformats.org/drawingml/2006/main" w="0">
            <a:solidFill>
              <a:srgbClr val="F3B2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7D802-9482-4210-9A44-19B8F986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2819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6E6B61"/>
                </a:solidFill>
              </a:defRPr>
            </a:pPr>
            <a:r>
              <a:rPr sz="1500" b="1">
                <a:solidFill>
                  <a:srgbClr val="6E6B61"/>
                </a:solidFill>
              </a:rPr>
              <a:t>Gemini / Tabnine CLI extension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B2E11-A0CA-4870-B985-B1BB475D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80391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700" b="1">
                <a:solidFill>
                  <a:srgbClr val="FFF9EE"/>
                </a:solidFill>
              </a:defRPr>
            </a:pPr>
            <a:r>
              <a:rPr sz="8700" b="1">
                <a:solidFill>
                  <a:srgbClr val="FFF9EE"/>
                </a:solidFill>
              </a:rPr>
              <a:t>Blueprint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AB2E9-29D1-47DB-BAF8-AC327727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6000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C9D7D2"/>
                </a:solidFill>
              </a:defRPr>
            </a:pPr>
            <a:r>
              <a:rPr sz="2850" b="0">
                <a:solidFill>
                  <a:srgbClr val="C9D7D2"/>
                </a:solidFill>
              </a:rPr>
              <a:t>Agentic coding that survives the chat window.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5C5A6-EAFA-432F-A7D0-9B8D6B72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103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8" name="terminal">
            <a:extLst xmlns:a="http://schemas.openxmlformats.org/drawingml/2006/main">
              <a:ext uri="{FF2B5EF4-FFF2-40B4-BE49-F238E27FC236}">
                <a16:creationId xmlns:a16="http://schemas.microsoft.com/office/drawing/2014/main" id="{A40A9D61-5D72-4301-B020-C1E58259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634" y="2919413"/>
            <a:ext cx="7728966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132022"/>
          </a:solidFill>
          <a:ln xmlns:a="http://schemas.openxmlformats.org/drawingml/2006/main" w="19050">
            <a:solidFill>
              <a:srgbClr val="1D2D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6C925-4A72-44F2-B72A-E4FDB70C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623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40142-4F06-4EAE-B272-D7CB59A0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623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C"/>
          </a:solidFill>
          <a:ln xmlns:a="http://schemas.openxmlformats.org/drawingml/2006/main" w="0">
            <a:solidFill>
              <a:srgbClr val="F3B2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20077-9800-49E6-A5B4-53CF876E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1623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D6A0"/>
          </a:solidFill>
          <a:ln xmlns:a="http://schemas.openxmlformats.org/drawingml/2006/main" w="0">
            <a:solidFill>
              <a:srgbClr val="64D6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66045-C2A1-4CB1-9C8F-C5E7021C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48050"/>
            <a:ext cx="7086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FF9EE"/>
                </a:solidFill>
              </a:defRPr>
            </a:pPr>
            <a:r>
              <a:rPr sz="2175" b="0">
                <a:solidFill>
                  <a:srgbClr val="FFF9EE"/>
                </a:solidFill>
              </a:rPr>
              <a:t>$ /blu-progress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1F4EC-C037-4B90-85F3-A060C341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886200"/>
            <a:ext cx="7086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FF9EE"/>
                </a:solidFill>
              </a:defRPr>
            </a:pPr>
            <a:r>
              <a:rPr sz="2175" b="0">
                <a:solidFill>
                  <a:srgbClr val="FFF9EE"/>
                </a:solidFill>
              </a:rPr>
              <a:t>state: initialized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D0C69-95C0-426D-8AB3-B4950A59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305300"/>
            <a:ext cx="7086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FF9EE"/>
                </a:solidFill>
              </a:defRPr>
            </a:pPr>
            <a:r>
              <a:rPr sz="2175" b="0">
                <a:solidFill>
                  <a:srgbClr val="FFF9EE"/>
                </a:solidFill>
              </a:rPr>
              <a:t>next: /blu-discuss-phase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364F2-1328-4250-85CF-B7E0E690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05400"/>
            <a:ext cx="1143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1FAD1-4CF0-42AA-A2B8-FECEF74B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006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9EE"/>
                </a:solidFill>
              </a:defRPr>
            </a:pPr>
            <a:r>
              <a:rPr sz="1875" b="1">
                <a:solidFill>
                  <a:srgbClr val="FFF9EE"/>
                </a:solidFill>
              </a:rPr>
              <a:t>ROADMAP.md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FB914-9080-4F93-AFF9-7E4368A3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200650"/>
            <a:ext cx="441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CFE2DD"/>
                </a:solidFill>
              </a:defRPr>
            </a:pPr>
            <a:r>
              <a:rPr sz="1725" b="0">
                <a:solidFill>
                  <a:srgbClr val="CFE2DD"/>
                </a:solidFill>
              </a:rPr>
              <a:t>what we said we would build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098E93-57BD-4CB8-9E34-C9B25BC6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715000"/>
            <a:ext cx="1143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C"/>
          </a:solidFill>
          <a:ln xmlns:a="http://schemas.openxmlformats.org/drawingml/2006/main" w="0">
            <a:solidFill>
              <a:srgbClr val="F3B2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5BC8F5-55BF-4554-90A5-B299555C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8102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9EE"/>
                </a:solidFill>
              </a:defRPr>
            </a:pPr>
            <a:r>
              <a:rPr sz="1875" b="1">
                <a:solidFill>
                  <a:srgbClr val="FFF9EE"/>
                </a:solidFill>
              </a:rPr>
              <a:t>STATE.md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43B243-A7E7-4128-BC46-6E281D3F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810250"/>
            <a:ext cx="441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CFE2DD"/>
                </a:solidFill>
              </a:defRPr>
            </a:pPr>
            <a:r>
              <a:rPr sz="1725" b="0">
                <a:solidFill>
                  <a:srgbClr val="CFE2DD"/>
                </a:solidFill>
              </a:rPr>
              <a:t>where the workflow is waiting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AD5147-8CDA-45D4-90C3-5DAAD46C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324600"/>
            <a:ext cx="1143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D6A0"/>
          </a:solidFill>
          <a:ln xmlns:a="http://schemas.openxmlformats.org/drawingml/2006/main" w="0">
            <a:solidFill>
              <a:srgbClr val="64D6A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34C359-9F9A-40EF-8A06-5CB95B3F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198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9EE"/>
                </a:solidFill>
              </a:defRPr>
            </a:pPr>
            <a:r>
              <a:rPr sz="1875" b="1">
                <a:solidFill>
                  <a:srgbClr val="FFF9EE"/>
                </a:solidFill>
              </a:rPr>
              <a:t>XX-PLAN.md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37DCD7-FCC2-46E9-90F8-99406ADD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419850"/>
            <a:ext cx="441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CFE2DD"/>
                </a:solidFill>
              </a:defRPr>
            </a:pPr>
            <a:r>
              <a:rPr sz="1725" b="0">
                <a:solidFill>
                  <a:srgbClr val="CFE2DD"/>
                </a:solidFill>
              </a:rPr>
              <a:t>how the agent should execute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AC14BF-335E-4A6C-8144-A93F4FEA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934200"/>
            <a:ext cx="1143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6771AA-CC11-49B6-8ACE-59A512C5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70294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9EE"/>
                </a:solidFill>
              </a:defRPr>
            </a:pPr>
            <a:r>
              <a:rPr sz="1875" b="1">
                <a:solidFill>
                  <a:srgbClr val="FFF9EE"/>
                </a:solidFill>
              </a:rPr>
              <a:t>XX-REVIEW.md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BB5EF3-B141-4030-8B2B-BB4C59F1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029450"/>
            <a:ext cx="441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CFE2DD"/>
                </a:solidFill>
              </a:defRPr>
            </a:pPr>
            <a:r>
              <a:rPr sz="1725" b="0">
                <a:solidFill>
                  <a:srgbClr val="CFE2DD"/>
                </a:solidFill>
              </a:rPr>
              <a:t>what reviewers can inspect</a:t>
            </a:r>
          </a:p>
        </p:txBody>
      </p:sp>
    </p:spTree>
    <p:extLst>
      <p:ext uri="{BB962C8B-B14F-4D97-AF65-F5344CB8AC3E}">
        <p14:creationId xmlns:p14="http://schemas.microsoft.com/office/powerpoint/2010/main" val="13329244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7807CC63-075A-4392-9534-2757E6DE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C7531671-ECBE-40B1-9555-1E9CDCE3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D80D4-4870-47FD-8766-92A58EC2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6B4A"/>
                </a:solidFill>
              </a:defRPr>
            </a:pPr>
            <a:r>
              <a:rPr sz="1350" b="1">
                <a:solidFill>
                  <a:srgbClr val="FF6B4A"/>
                </a:solidFill>
              </a:rPr>
              <a:t>Audience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99A02-898D-4C44-AD4A-9E477829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6611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32022"/>
                </a:solidFill>
              </a:defRPr>
            </a:pPr>
            <a:r>
              <a:rPr sz="4650" b="1">
                <a:solidFill>
                  <a:srgbClr val="132022"/>
                </a:solidFill>
              </a:rPr>
              <a:t>Where will agents fail us first?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66FFF-3D9E-4944-83B8-319BF065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6E6B61"/>
                </a:solidFill>
              </a:defRPr>
            </a:pPr>
            <a:r>
              <a:rPr sz="2100" b="0">
                <a:solidFill>
                  <a:srgbClr val="6E6B61"/>
                </a:solidFill>
              </a:rPr>
              <a:t>A thirty-second poll before the machinery shows 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43250-0E32-4889-8DAB-D1417943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704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00B8D9"/>
                </a:solidFill>
              </a:defRPr>
            </a:pPr>
            <a:r>
              <a:rPr sz="435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8BCD8-5223-4A17-8D04-9C85A953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57600"/>
            <a:ext cx="7067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32022"/>
                </a:solidFill>
              </a:defRPr>
            </a:pPr>
            <a:r>
              <a:rPr sz="2550" b="1">
                <a:solidFill>
                  <a:srgbClr val="132022"/>
                </a:solidFill>
              </a:rPr>
              <a:t>Lost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4F19F-FCB8-4AA6-93C3-981C4599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386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15D40-7EF5-4FAA-84B4-896E6564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81400"/>
            <a:ext cx="704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FF6B4A"/>
                </a:solidFill>
              </a:defRPr>
            </a:pPr>
            <a:r>
              <a:rPr sz="4350" b="1">
                <a:solidFill>
                  <a:srgbClr val="FF6B4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63F02-F6B1-4A26-B341-CFBF4882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57600"/>
            <a:ext cx="7067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32022"/>
                </a:solidFill>
              </a:defRPr>
            </a:pPr>
            <a:r>
              <a:rPr sz="2550" b="1">
                <a:solidFill>
                  <a:srgbClr val="132022"/>
                </a:solidFill>
              </a:rPr>
              <a:t>Unsafe edits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FF768-26A7-49C7-A6CD-067D0F01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0386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6559A-97DB-4E2A-8BF1-2ED9AA6D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34250"/>
            <a:ext cx="704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F3B23C"/>
                </a:solidFill>
              </a:defRPr>
            </a:pPr>
            <a:r>
              <a:rPr sz="4350" b="1">
                <a:solidFill>
                  <a:srgbClr val="F3B23C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05A06-E09F-40C4-BC1C-9E92D896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410450"/>
            <a:ext cx="7067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32022"/>
                </a:solidFill>
              </a:defRPr>
            </a:pPr>
            <a:r>
              <a:rPr sz="2550" b="1">
                <a:solidFill>
                  <a:srgbClr val="132022"/>
                </a:solidFill>
              </a:rPr>
              <a:t>Weak review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8A602-B9B8-4C6C-910B-15EAE569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79145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23C"/>
          </a:solidFill>
          <a:ln xmlns:a="http://schemas.openxmlformats.org/drawingml/2006/main" w="0">
            <a:solidFill>
              <a:srgbClr val="F3B2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1CC7C-C319-491B-8BE8-7CED06AF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334250"/>
            <a:ext cx="704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64D6A0"/>
                </a:solidFill>
              </a:defRPr>
            </a:pPr>
            <a:r>
              <a:rPr sz="4350" b="1">
                <a:solidFill>
                  <a:srgbClr val="64D6A0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D55D60-9BF7-4576-9B82-5BD41E44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7410450"/>
            <a:ext cx="7067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32022"/>
                </a:solidFill>
              </a:defRPr>
            </a:pPr>
            <a:r>
              <a:rPr sz="2550" b="1">
                <a:solidFill>
                  <a:srgbClr val="132022"/>
                </a:solidFill>
              </a:rPr>
              <a:t>Handoff gaps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C1732-0D4A-4559-996A-B503C22D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779145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D6A0"/>
          </a:solidFill>
          <a:ln xmlns:a="http://schemas.openxmlformats.org/drawingml/2006/main" w="0">
            <a:solidFill>
              <a:srgbClr val="64D6A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25AA8-C8AE-4223-86EF-7F2749D0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9A9386"/>
                </a:solidFill>
              </a:defRPr>
            </a:pPr>
            <a:r>
              <a:rPr sz="1050" b="0">
                <a:solidFill>
                  <a:srgbClr val="9A9386"/>
                </a:solidFill>
              </a:rPr>
              <a:t>Blueprint team talk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B6B903-AEB3-4D63-BFE2-2E82F745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95821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D8D0C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02250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A3CD5601-A697-47F7-AC48-1C5776BF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389F9CE6-D5CC-40E1-B948-C4A06639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31C3B-ADAB-4751-8FC2-DDE98128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6B4A"/>
                </a:solidFill>
              </a:defRPr>
            </a:pPr>
            <a:r>
              <a:rPr sz="1350" b="1">
                <a:solidFill>
                  <a:srgbClr val="FF6B4A"/>
                </a:solidFill>
              </a:rPr>
              <a:t>Reframe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6702D-77CD-41C9-80F1-6A400E50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6611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32022"/>
                </a:solidFill>
              </a:defRPr>
            </a:pPr>
            <a:r>
              <a:rPr sz="4650" b="1">
                <a:solidFill>
                  <a:srgbClr val="132022"/>
                </a:solidFill>
              </a:rPr>
              <a:t>The new problem is not code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7E869-B0A9-42B2-96A8-8F476F95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6E6B61"/>
                </a:solidFill>
              </a:defRPr>
            </a:pPr>
            <a:r>
              <a:rPr sz="2100" b="0">
                <a:solidFill>
                  <a:srgbClr val="6E6B61"/>
                </a:solidFill>
              </a:rPr>
              <a:t>Agents can produce code. Team work needs the missing middle around the code.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68723-DABE-4953-8425-D11C2C60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62293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32022"/>
                </a:solidFill>
              </a:defRPr>
            </a:pPr>
            <a:r>
              <a:rPr sz="3600" b="1">
                <a:solidFill>
                  <a:srgbClr val="132022"/>
                </a:solidFill>
              </a:rPr>
              <a:t>The hard part is preserving intent, scope, decisions, and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67A18-9DE0-4998-9841-C253C445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C9C09-109C-40ED-A661-6B4FEFAE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62600"/>
            <a:ext cx="6305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What did we agree to build?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F9DAB-C59B-4D9F-A9F6-7A41CBDD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341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4BE18-175C-44D8-AE04-7CA3D684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134100"/>
            <a:ext cx="6305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What changed while we built it?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BD441-AA9F-47A4-BB6D-4DE5786E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056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A5A80-4856-4D90-80C4-DB378670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705600"/>
            <a:ext cx="6305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How do we know it is done?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E1DDF-0593-4234-8971-91EFB9CC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771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886FA-477F-4EC9-BD12-B054B9B8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277100"/>
            <a:ext cx="6305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What should the next person trust?</a:t>
            </a:r>
          </a:p>
        </p:txBody>
      </p:sp>
      <p:sp>
        <p:nvSpPr>
          <p:cNvPr id="15" name="terminal">
            <a:extLst xmlns:a="http://schemas.openxmlformats.org/drawingml/2006/main">
              <a:ext uri="{FF2B5EF4-FFF2-40B4-BE49-F238E27FC236}">
                <a16:creationId xmlns:a16="http://schemas.microsoft.com/office/drawing/2014/main" id="{DF3C3519-EB78-4B43-A44D-EABA7F0A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19600"/>
            <a:ext cx="948690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132022"/>
          </a:solidFill>
          <a:ln xmlns:a="http://schemas.openxmlformats.org/drawingml/2006/main" w="19050">
            <a:solidFill>
              <a:srgbClr val="1D2D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C82BA-23ED-4F98-9C12-F7157D8E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672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4E8196-8D64-4141-88AB-624F92C5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672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C"/>
          </a:solidFill>
          <a:ln xmlns:a="http://schemas.openxmlformats.org/drawingml/2006/main" w="0">
            <a:solidFill>
              <a:srgbClr val="F3B2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2F891-C302-4A71-BA20-6589DE14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672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D6A0"/>
          </a:solidFill>
          <a:ln xmlns:a="http://schemas.openxmlformats.org/drawingml/2006/main" w="0">
            <a:solidFill>
              <a:srgbClr val="64D6A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46AB35-9A18-4653-8EE7-17FC3368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53000"/>
            <a:ext cx="883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FF9EE"/>
                </a:solidFill>
              </a:defRPr>
            </a:pPr>
            <a:r>
              <a:rPr sz="2175" b="0">
                <a:solidFill>
                  <a:srgbClr val="FFF9EE"/>
                </a:solidFill>
              </a:rPr>
              <a:t>&gt; write the feature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475832-BCD4-4305-B13D-642C4B41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91150"/>
            <a:ext cx="883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FF9EE"/>
                </a:solidFill>
              </a:defRPr>
            </a:pPr>
            <a:r>
              <a:rPr sz="2175" b="0">
                <a:solidFill>
                  <a:srgbClr val="FFF9EE"/>
                </a:solidFill>
              </a:rPr>
              <a:t>agent: done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1E9A37-D673-467F-A7DF-50BA1C01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10250"/>
            <a:ext cx="883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FF9EE"/>
                </a:solidFill>
              </a:defRPr>
            </a:pPr>
            <a:r>
              <a:rPr sz="2175" b="0">
                <a:solidFill>
                  <a:srgbClr val="FFF9EE"/>
                </a:solidFill>
              </a:rPr>
              <a:t>human: wait, what exactly changed?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58E2CE-C152-4B99-8648-602277FB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667500"/>
            <a:ext cx="552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7B4578-7791-4CD0-81F8-C3796280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87705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022"/>
                </a:solidFill>
              </a:defRPr>
            </a:pPr>
            <a:r>
              <a:rPr sz="1650" b="1">
                <a:solidFill>
                  <a:srgbClr val="132022"/>
                </a:solidFill>
              </a:rPr>
              <a:t>prompt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18808C-EF77-43E5-B98D-6DA4D1A9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76275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6E6B61"/>
                </a:solidFill>
              </a:defRPr>
            </a:pPr>
            <a:r>
              <a:rPr sz="1800" b="1">
                <a:solidFill>
                  <a:srgbClr val="6E6B61"/>
                </a:solidFill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40DA57-67DA-473C-9876-9839E596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667500"/>
            <a:ext cx="552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C"/>
          </a:solidFill>
          <a:ln xmlns:a="http://schemas.openxmlformats.org/drawingml/2006/main" w="0">
            <a:solidFill>
              <a:srgbClr val="F3B23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BA7E4E-ED84-4487-BCE5-D23EC600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87705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022"/>
                </a:solidFill>
              </a:defRPr>
            </a:pPr>
            <a:r>
              <a:rPr sz="1650" b="1">
                <a:solidFill>
                  <a:srgbClr val="132022"/>
                </a:solidFill>
              </a:rPr>
              <a:t>code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3E8363-A171-4547-95DC-4A97011E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676275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6E6B61"/>
                </a:solidFill>
              </a:defRPr>
            </a:pPr>
            <a:r>
              <a:rPr sz="1800" b="1">
                <a:solidFill>
                  <a:srgbClr val="6E6B61"/>
                </a:solidFill>
              </a:rPr>
              <a:t>-&gt;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D7BF16-70EB-44CC-8D3D-095EE377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6667500"/>
            <a:ext cx="552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FC5B98-7DC3-4DF3-B860-460A54C4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87705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022"/>
                </a:solidFill>
              </a:defRPr>
            </a:pPr>
            <a:r>
              <a:rPr sz="1650" b="1">
                <a:solidFill>
                  <a:srgbClr val="132022"/>
                </a:solidFill>
              </a:rPr>
              <a:t>missing plan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237178-73AE-4E41-9CEC-AA409CEE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676275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6E6B61"/>
                </a:solidFill>
              </a:defRPr>
            </a:pPr>
            <a:r>
              <a:rPr sz="1800" b="1">
                <a:solidFill>
                  <a:srgbClr val="6E6B61"/>
                </a:solidFill>
              </a:rPr>
              <a:t>-&gt;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489055-6E66-4372-965B-D04B1C8C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6667500"/>
            <a:ext cx="552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683AF3-69DB-4B09-801D-1763495B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687705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022"/>
                </a:solidFill>
              </a:defRPr>
            </a:pPr>
            <a:r>
              <a:rPr sz="1650" b="1">
                <a:solidFill>
                  <a:srgbClr val="132022"/>
                </a:solidFill>
              </a:rPr>
              <a:t>missing proof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A2FE4D-5112-4BA1-B85E-01D600C3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9A9386"/>
                </a:solidFill>
              </a:defRPr>
            </a:pPr>
            <a:r>
              <a:rPr sz="1050" b="0">
                <a:solidFill>
                  <a:srgbClr val="9A9386"/>
                </a:solidFill>
              </a:rPr>
              <a:t>Blueprint team talk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4D819F-2FA2-4239-9F8E-37F0A82E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95821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D8D0C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09583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5FD3DF28-3D8C-417D-93D3-9F4BDCC3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FE8E4DAB-1A00-45EB-82D1-B8EDE22F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5599E-06FE-42EA-A940-77DC3DF7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6B4A"/>
                </a:solidFill>
              </a:defRPr>
            </a:pPr>
            <a:r>
              <a:rPr sz="1350" b="1">
                <a:solidFill>
                  <a:srgbClr val="FF6B4A"/>
                </a:solidFill>
              </a:rPr>
              <a:t>One sentence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6E0E8-4BA4-4215-8158-E9DB497B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6611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32022"/>
                </a:solidFill>
              </a:defRPr>
            </a:pPr>
            <a:r>
              <a:rPr sz="4650" b="1">
                <a:solidFill>
                  <a:srgbClr val="132022"/>
                </a:solidFill>
              </a:rPr>
              <a:t>Blueprint turns agent work into a repo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019E6-E2D1-4D75-A217-913EE651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6E6B61"/>
                </a:solidFill>
              </a:defRPr>
            </a:pPr>
            <a:r>
              <a:rPr sz="2100" b="0">
                <a:solidFill>
                  <a:srgbClr val="6E6B61"/>
                </a:solidFill>
              </a:rPr>
              <a:t>A CLI extension for roadmap, phase planning, execution, validation, review, and shipping artifacts.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122B2-B2B2-4BCE-B410-2D4803A8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72050"/>
            <a:ext cx="1123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655BB-F92C-49BC-AE75-D90C942C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16611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32022"/>
                </a:solidFill>
              </a:defRPr>
            </a:pPr>
            <a:r>
              <a:rPr sz="2775" b="1">
                <a:solidFill>
                  <a:srgbClr val="132022"/>
                </a:solidFill>
              </a:rPr>
              <a:t>idea -&gt; roadmap -&gt; plan -&gt; execute -&gt; validate -&gt; review -&gt; ship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BB4D1-CC67-498B-B2F7-CD6F87D4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5050"/>
            <a:ext cx="16611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32022"/>
                </a:solidFill>
              </a:defRPr>
            </a:pPr>
            <a:r>
              <a:rPr sz="3300" b="1">
                <a:solidFill>
                  <a:srgbClr val="132022"/>
                </a:solidFill>
              </a:rPr>
              <a:t>The agent is still doing work. Blueprint makes the work inspectable.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39807-3A95-47DB-942F-780CC78C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9A9386"/>
                </a:solidFill>
              </a:defRPr>
            </a:pPr>
            <a:r>
              <a:rPr sz="1050" b="0">
                <a:solidFill>
                  <a:srgbClr val="9A9386"/>
                </a:solidFill>
              </a:rPr>
              <a:t>Blueprint team talk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CBDBE-4D8C-42DB-B524-DA79F376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95821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D8D0C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89891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A9429F6F-B20B-4A89-B992-A8D0968B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ADDC9E60-7A4E-4DAF-9414-672A0A8C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80917-8974-4547-8A03-753934D0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6B4A"/>
                </a:solidFill>
              </a:defRPr>
            </a:pPr>
            <a:r>
              <a:rPr sz="1350" b="1">
                <a:solidFill>
                  <a:srgbClr val="FF6B4A"/>
                </a:solidFill>
              </a:rPr>
              <a:t>Repo memory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C13D6-76A6-4BB6-B44D-A15EA2DC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6611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32022"/>
                </a:solidFill>
              </a:defRPr>
            </a:pPr>
            <a:r>
              <a:rPr sz="4650" b="1">
                <a:solidFill>
                  <a:srgbClr val="132022"/>
                </a:solidFill>
              </a:rPr>
              <a:t>.blueprint/ lives beside the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E0E18-B452-4448-92FB-6785A18A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6E6B61"/>
                </a:solidFill>
              </a:defRPr>
            </a:pPr>
            <a:r>
              <a:rPr sz="2100" b="0">
                <a:solidFill>
                  <a:srgbClr val="6E6B61"/>
                </a:solidFill>
              </a:rPr>
              <a:t>Planning state is versioned, reviewable, and resumable instead of trapped in one conversation.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470D6-E565-45D9-B076-F6D5128B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55054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132022"/>
                </a:solidFill>
              </a:defRPr>
            </a:pPr>
            <a:r>
              <a:rPr sz="3750" b="1">
                <a:solidFill>
                  <a:srgbClr val="132022"/>
                </a:solidFill>
              </a:rPr>
              <a:t>The repository becomes the memory boundary.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D70CE-137F-4843-A694-29220173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C073C-0D8C-4B7F-B4C0-3E85DDAF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14950"/>
            <a:ext cx="6267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Project intent is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E6AFD-1553-4CBC-AACA-E15B51B5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6C0DA-3C1C-4ABE-8B48-99D3B56F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86450"/>
            <a:ext cx="6267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The next action is explicit.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5B30B-57A0-4F75-AB5F-95C325A0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7ACC9-6224-4A08-9FA9-C4CD382A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57950"/>
            <a:ext cx="6267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Evidence survives a reset.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F9B9C-B389-491E-832E-7F75CE60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485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31D9A-35C1-4E0C-9C54-204B17C9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029450"/>
            <a:ext cx="6267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Review has artifacts, not folklore.</a:t>
            </a:r>
          </a:p>
        </p:txBody>
      </p:sp>
      <p:sp>
        <p:nvSpPr>
          <p:cNvPr id="15" name="terminal">
            <a:extLst xmlns:a="http://schemas.openxmlformats.org/drawingml/2006/main">
              <a:ext uri="{FF2B5EF4-FFF2-40B4-BE49-F238E27FC236}">
                <a16:creationId xmlns:a16="http://schemas.microsoft.com/office/drawing/2014/main" id="{34F629BB-EE20-4ED5-A343-782F1AD9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578" y="3543300"/>
            <a:ext cx="9396222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132022"/>
          </a:solidFill>
          <a:ln xmlns:a="http://schemas.openxmlformats.org/drawingml/2006/main" w="19050">
            <a:solidFill>
              <a:srgbClr val="1D2D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D2BB98-32EF-4D36-A214-9301FBC7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90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696559-5E9D-4162-A00A-BE937C49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0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C"/>
          </a:solidFill>
          <a:ln xmlns:a="http://schemas.openxmlformats.org/drawingml/2006/main" w="0">
            <a:solidFill>
              <a:srgbClr val="F3B2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97A52-236A-4F8E-AA25-3DB0B480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90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D6A0"/>
          </a:solidFill>
          <a:ln xmlns:a="http://schemas.openxmlformats.org/drawingml/2006/main" w="0">
            <a:solidFill>
              <a:srgbClr val="64D6A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DEC05-E65C-492C-90B5-80B89124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76700"/>
            <a:ext cx="874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9EE"/>
                </a:solidFill>
              </a:defRPr>
            </a:pPr>
            <a:r>
              <a:rPr sz="2100" b="0">
                <a:solidFill>
                  <a:srgbClr val="FFF9EE"/>
                </a:solidFill>
              </a:rPr>
              <a:t>.blueprint/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AD83F2-0EAA-4198-AF6F-E0BABB21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95800"/>
            <a:ext cx="874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9EE"/>
                </a:solidFill>
              </a:defRPr>
            </a:pPr>
            <a:r>
              <a:rPr sz="2100" b="0">
                <a:solidFill>
                  <a:srgbClr val="FFF9EE"/>
                </a:solidFill>
              </a:rPr>
              <a:t>  PROJECT.md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1640DB-B25C-4D74-AABE-CD540EC9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14900"/>
            <a:ext cx="874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9EE"/>
                </a:solidFill>
              </a:defRPr>
            </a:pPr>
            <a:r>
              <a:rPr sz="2100" b="0">
                <a:solidFill>
                  <a:srgbClr val="FFF9EE"/>
                </a:solidFill>
              </a:rPr>
              <a:t>  REQUIREMENTS.md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D5E67C-46A2-44C7-A6EC-3F5971E3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34000"/>
            <a:ext cx="874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9EE"/>
                </a:solidFill>
              </a:defRPr>
            </a:pPr>
            <a:r>
              <a:rPr sz="2100" b="0">
                <a:solidFill>
                  <a:srgbClr val="FFF9EE"/>
                </a:solidFill>
              </a:rPr>
              <a:t>  ROADMAP.md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BDF97A-D050-478F-AE4A-77478BBE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53100"/>
            <a:ext cx="874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9EE"/>
                </a:solidFill>
              </a:defRPr>
            </a:pPr>
            <a:r>
              <a:rPr sz="2100" b="0">
                <a:solidFill>
                  <a:srgbClr val="FFF9EE"/>
                </a:solidFill>
              </a:rPr>
              <a:t>  STATE.md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DF4D07-0C29-42E6-B77A-4671FA7C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172200"/>
            <a:ext cx="874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9EE"/>
                </a:solidFill>
              </a:defRPr>
            </a:pPr>
            <a:r>
              <a:rPr sz="2100" b="0">
                <a:solidFill>
                  <a:srgbClr val="FFF9EE"/>
                </a:solidFill>
              </a:rPr>
              <a:t>  phases/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B95A47-47A7-4D9E-B1C0-5EE3CD24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91300"/>
            <a:ext cx="874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9EE"/>
                </a:solidFill>
              </a:defRPr>
            </a:pPr>
            <a:r>
              <a:rPr sz="2100" b="0">
                <a:solidFill>
                  <a:srgbClr val="FFF9EE"/>
                </a:solidFill>
              </a:rPr>
              <a:t>  reports/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876098-1655-4E49-8EAA-549546F9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7010400"/>
            <a:ext cx="874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9EE"/>
                </a:solidFill>
              </a:defRPr>
            </a:pPr>
            <a:r>
              <a:rPr sz="2100" b="0">
                <a:solidFill>
                  <a:srgbClr val="FFF9EE"/>
                </a:solidFill>
              </a:rPr>
              <a:t>  codebase/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310EAB-610B-4DCC-9BD3-D090EE19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7429500"/>
            <a:ext cx="874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9EE"/>
                </a:solidFill>
              </a:defRPr>
            </a:pPr>
            <a:r>
              <a:rPr sz="2100" b="0">
                <a:solidFill>
                  <a:srgbClr val="FFF9EE"/>
                </a:solidFill>
              </a:rPr>
              <a:t>  notes/ todos/ backlog/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9158AB-F5D2-417F-A9F6-98417080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9A9386"/>
                </a:solidFill>
              </a:defRPr>
            </a:pPr>
            <a:r>
              <a:rPr sz="1050" b="0">
                <a:solidFill>
                  <a:srgbClr val="9A9386"/>
                </a:solidFill>
              </a:rPr>
              <a:t>Blueprint team talk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E2538D-F4CC-4FF7-8E25-EC53350E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95821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D8D0C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211708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3F5F5134-34A8-47F5-8948-510A6D57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5C8A97E2-CB17-4111-8CA2-05D9B9B1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7B453-58C0-4FDF-9D10-1A2BC9E8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6B4A"/>
                </a:solidFill>
              </a:defRPr>
            </a:pPr>
            <a:r>
              <a:rPr sz="1350" b="1">
                <a:solidFill>
                  <a:srgbClr val="FF6B4A"/>
                </a:solidFill>
              </a:rPr>
              <a:t>Runtime shape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F5578-5F5C-4B00-9BE4-AD07401D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6611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32022"/>
                </a:solidFill>
              </a:defRPr>
            </a:pPr>
            <a:r>
              <a:rPr sz="4650" b="1">
                <a:solidFill>
                  <a:srgbClr val="132022"/>
                </a:solidFill>
              </a:rPr>
              <a:t>Thin commands, durable state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96211-EAD7-400D-B234-2A000BE0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6E6B61"/>
                </a:solidFill>
              </a:defRPr>
            </a:pPr>
            <a:r>
              <a:rPr sz="2100" b="0">
                <a:solidFill>
                  <a:srgbClr val="6E6B61"/>
                </a:solidFill>
              </a:rPr>
              <a:t>Each layer has a job, so prompt text does not become the database.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B2006-E391-4EB9-AAAC-C71A4834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666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6B4A"/>
                </a:solidFill>
              </a:defRPr>
            </a:pPr>
            <a:r>
              <a:rPr sz="2550" b="1">
                <a:solidFill>
                  <a:srgbClr val="FF6B4A"/>
                </a:solidFill>
              </a:rPr>
              <a:t>Commands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5EF44-C56B-4405-A409-C4E33549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38600"/>
            <a:ext cx="960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32022"/>
                </a:solidFill>
              </a:defRPr>
            </a:pPr>
            <a:r>
              <a:rPr sz="2250" b="0">
                <a:solidFill>
                  <a:srgbClr val="132022"/>
                </a:solidFill>
              </a:rPr>
              <a:t>User-facing UX, routing, confirmations, recovery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B1655-F3CB-435D-9D80-75263189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666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3B23C"/>
                </a:solidFill>
              </a:defRPr>
            </a:pPr>
            <a:r>
              <a:rPr sz="2550" b="1">
                <a:solidFill>
                  <a:srgbClr val="F3B23C"/>
                </a:solidFill>
              </a:rPr>
              <a:t>Skills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E345B-6824-4C65-8A2F-492A4E3F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72000"/>
            <a:ext cx="960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32022"/>
                </a:solidFill>
              </a:defRPr>
            </a:pPr>
            <a:r>
              <a:rPr sz="2250" b="0">
                <a:solidFill>
                  <a:srgbClr val="132022"/>
                </a:solidFill>
              </a:rPr>
              <a:t>Reusable orchestration contracts for command families.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C2491-E0F8-487B-A251-0CBB074F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666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C5CFF"/>
                </a:solidFill>
              </a:defRPr>
            </a:pPr>
            <a:r>
              <a:rPr sz="2550" b="1">
                <a:solidFill>
                  <a:srgbClr val="7C5CFF"/>
                </a:solidFill>
              </a:rPr>
              <a:t>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6886A-585A-468E-9F65-9C4141F3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05400"/>
            <a:ext cx="960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32022"/>
                </a:solidFill>
              </a:defRPr>
            </a:pPr>
            <a:r>
              <a:rPr sz="2250" b="0">
                <a:solidFill>
                  <a:srgbClr val="132022"/>
                </a:solidFill>
              </a:rPr>
              <a:t>Bounded deep work: mapping, planning, execution,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89CEB-14D4-46C2-A7E3-13DE7087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666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B8D9"/>
                </a:solidFill>
              </a:defRPr>
            </a:pPr>
            <a:r>
              <a:rPr sz="2550" b="1">
                <a:solidFill>
                  <a:srgbClr val="00B8D9"/>
                </a:solidFill>
              </a:rPr>
              <a:t>MCP tools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D0FC7-040E-41E9-8CA1-F8EA0961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638800"/>
            <a:ext cx="960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32022"/>
                </a:solidFill>
              </a:defRPr>
            </a:pPr>
            <a:r>
              <a:rPr sz="2250" b="0">
                <a:solidFill>
                  <a:srgbClr val="132022"/>
                </a:solidFill>
              </a:rPr>
              <a:t>Deterministic reads and writes, validation, path safety.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927795-32B3-4298-8F08-FFEAD29A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72200"/>
            <a:ext cx="666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64D6A0"/>
                </a:solidFill>
              </a:defRPr>
            </a:pPr>
            <a:r>
              <a:rPr sz="2550" b="1">
                <a:solidFill>
                  <a:srgbClr val="64D6A0"/>
                </a:solidFill>
              </a:rPr>
              <a:t>Hooks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7E9D6-0F83-4223-A630-F709A569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172200"/>
            <a:ext cx="960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32022"/>
                </a:solidFill>
              </a:defRPr>
            </a:pPr>
            <a:r>
              <a:rPr sz="2250" b="0">
                <a:solidFill>
                  <a:srgbClr val="132022"/>
                </a:solidFill>
              </a:rPr>
              <a:t>Advisory guardrails, not hidden state ownership.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1DA753-C7D4-4801-AF47-206E1514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81800"/>
            <a:ext cx="1661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D8D0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40424-B65A-4613-B3CB-4A8B5EE8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2009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75FAC3-3F13-4D8A-A567-6DFC9647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181850"/>
            <a:ext cx="1828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6E6B61"/>
                </a:solidFill>
              </a:defRPr>
            </a:pPr>
            <a:r>
              <a:rPr sz="1500" b="1">
                <a:solidFill>
                  <a:srgbClr val="6E6B61"/>
                </a:solidFill>
              </a:rPr>
              <a:t>commands stay thin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B8333A-2D1E-4103-A6EF-558F9916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72009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B00BF-687F-4CD3-B218-26F45C1A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7086600"/>
            <a:ext cx="209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6E6B61"/>
                </a:solidFill>
              </a:defRPr>
            </a:pPr>
            <a:r>
              <a:rPr sz="1500" b="1">
                <a:solidFill>
                  <a:srgbClr val="6E6B61"/>
                </a:solidFill>
              </a:rPr>
              <a:t>MCP owns persistence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3ADFFE-8CFA-4F8A-A48D-5F733C0F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2009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7B5E83-908B-4A7B-99F6-B04E712E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18185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6E6B61"/>
                </a:solidFill>
              </a:defRPr>
            </a:pPr>
            <a:r>
              <a:rPr sz="1500" b="1">
                <a:solidFill>
                  <a:srgbClr val="6E6B61"/>
                </a:solidFill>
              </a:rPr>
              <a:t>agents stay bounded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FDBE5-E961-4A63-82EA-09AB61EA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9A9386"/>
                </a:solidFill>
              </a:defRPr>
            </a:pPr>
            <a:r>
              <a:rPr sz="1050" b="0">
                <a:solidFill>
                  <a:srgbClr val="9A9386"/>
                </a:solidFill>
              </a:rPr>
              <a:t>Blueprint team talk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899C40-0CEC-47C2-A9AE-43E13714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95821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D8D0C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00475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ccent-bar">
            <a:extLst xmlns:a="http://schemas.openxmlformats.org/drawingml/2006/main">
              <a:ext uri="{FF2B5EF4-FFF2-40B4-BE49-F238E27FC236}">
                <a16:creationId xmlns:a16="http://schemas.microsoft.com/office/drawing/2014/main" id="{2676DF12-23C3-41C6-92C9-B23D459C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2" name="paper-field">
            <a:extLst xmlns:a="http://schemas.openxmlformats.org/drawingml/2006/main">
              <a:ext uri="{FF2B5EF4-FFF2-40B4-BE49-F238E27FC236}">
                <a16:creationId xmlns:a16="http://schemas.microsoft.com/office/drawing/2014/main" id="{27487F8A-A112-4F88-8586-F8A518B2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18135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3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DD692C67-8015-4913-8D15-5B4EA7B1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676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4A"/>
                </a:solidFill>
              </a:defRPr>
            </a:pPr>
            <a:r>
              <a:rPr sz="1350" b="1">
                <a:solidFill>
                  <a:srgbClr val="FF6B4A"/>
                </a:solidFill>
              </a:rPr>
              <a:t>Stage vocabulary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883723-9FF9-4A1C-939C-EB2CE15E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6764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32022"/>
                </a:solidFill>
              </a:defRPr>
            </a:pPr>
            <a:r>
              <a:rPr sz="4350" b="1">
                <a:solidFill>
                  <a:srgbClr val="132022"/>
                </a:solidFill>
              </a:rPr>
              <a:t>A shared spine for every skill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8BDDB20-AFD2-447E-9569-C93207F9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676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F6A5F"/>
                </a:solidFill>
              </a:defRPr>
            </a:pPr>
            <a:r>
              <a:rPr sz="1875">
                <a:solidFill>
                  <a:srgbClr val="6F6A5F"/>
                </a:solidFill>
              </a:rPr>
              <a:t>Resolve, Read, Decide, Execute, Persist, Validate, and Route make agent work visible while it is happening.</a:t>
            </a:r>
          </a:p>
        </p:txBody>
      </p:sp>
      <p:sp>
        <p:nvSpPr>
          <p:cNvPr id="6" name="stage-list-heading">
            <a:extLst xmlns:a="http://schemas.openxmlformats.org/drawingml/2006/main">
              <a:ext uri="{FF2B5EF4-FFF2-40B4-BE49-F238E27FC236}">
                <a16:creationId xmlns:a16="http://schemas.microsoft.com/office/drawing/2014/main" id="{53C92CBD-23D3-4096-A728-960F51A8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9563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2022"/>
                </a:solidFill>
              </a:defRPr>
            </a:pPr>
            <a:r>
              <a:rPr sz="2250" b="1">
                <a:solidFill>
                  <a:srgbClr val="132022"/>
                </a:solidFill>
              </a:rPr>
              <a:t>What each stage does</a:t>
            </a:r>
          </a:p>
        </p:txBody>
      </p:sp>
      <p:sp>
        <p:nvSpPr>
          <p:cNvPr id="7" name="stage-list-rule">
            <a:extLst xmlns:a="http://schemas.openxmlformats.org/drawingml/2006/main">
              <a:ext uri="{FF2B5EF4-FFF2-40B4-BE49-F238E27FC236}">
                <a16:creationId xmlns:a16="http://schemas.microsoft.com/office/drawing/2014/main" id="{880DAA29-317E-44D6-8FD6-5DCAD1E8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9563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D8D0C1"/>
            </a:solidFill>
            <a:prstDash val="solid"/>
          </a:ln>
        </p:spPr>
      </p:sp>
      <p:sp>
        <p:nvSpPr>
          <p:cNvPr id="8" name="stage-mark-1">
            <a:extLst xmlns:a="http://schemas.openxmlformats.org/drawingml/2006/main">
              <a:ext uri="{FF2B5EF4-FFF2-40B4-BE49-F238E27FC236}">
                <a16:creationId xmlns:a16="http://schemas.microsoft.com/office/drawing/2014/main" id="{1300B9FD-B9CB-4A2D-9C04-F0884CB0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9525">
            <a:solidFill>
              <a:srgbClr val="FF6B4A"/>
            </a:solidFill>
            <a:prstDash val="solid"/>
          </a:ln>
        </p:spPr>
      </p:sp>
      <p:sp>
        <p:nvSpPr>
          <p:cNvPr id="9" name="stage-name-1">
            <a:extLst xmlns:a="http://schemas.openxmlformats.org/drawingml/2006/main">
              <a:ext uri="{FF2B5EF4-FFF2-40B4-BE49-F238E27FC236}">
                <a16:creationId xmlns:a16="http://schemas.microsoft.com/office/drawing/2014/main" id="{30FC6A32-8A13-4134-8305-E0DBBBD9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144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6B4A"/>
                </a:solidFill>
              </a:defRPr>
            </a:pPr>
            <a:r>
              <a:rPr sz="1950" b="1">
                <a:solidFill>
                  <a:srgbClr val="FF6B4A"/>
                </a:solidFill>
              </a:rPr>
              <a:t>Resolve</a:t>
            </a:r>
          </a:p>
        </p:txBody>
      </p:sp>
      <p:sp>
        <p:nvSpPr>
          <p:cNvPr id="10" name="stage-description-1">
            <a:extLst xmlns:a="http://schemas.openxmlformats.org/drawingml/2006/main">
              <a:ext uri="{FF2B5EF4-FFF2-40B4-BE49-F238E27FC236}">
                <a16:creationId xmlns:a16="http://schemas.microsoft.com/office/drawing/2014/main" id="{06AAD2AD-1F90-42A5-948E-B524B37C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7665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32022"/>
                </a:solidFill>
              </a:defRPr>
            </a:pPr>
            <a:r>
              <a:rPr sz="1575">
                <a:solidFill>
                  <a:srgbClr val="132022"/>
                </a:solidFill>
              </a:rPr>
              <a:t>Bound intent into target, mode, and constraints.</a:t>
            </a:r>
          </a:p>
        </p:txBody>
      </p:sp>
      <p:sp>
        <p:nvSpPr>
          <p:cNvPr id="11" name="stage-mark-2">
            <a:extLst xmlns:a="http://schemas.openxmlformats.org/drawingml/2006/main">
              <a:ext uri="{FF2B5EF4-FFF2-40B4-BE49-F238E27FC236}">
                <a16:creationId xmlns:a16="http://schemas.microsoft.com/office/drawing/2014/main" id="{5E7C8001-4AF5-41C9-A9F2-5C6F5AEE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23C"/>
          </a:solidFill>
          <a:ln xmlns:a="http://schemas.openxmlformats.org/drawingml/2006/main" w="9525">
            <a:solidFill>
              <a:srgbClr val="F3B23C"/>
            </a:solidFill>
            <a:prstDash val="solid"/>
          </a:ln>
        </p:spPr>
      </p:sp>
      <p:sp>
        <p:nvSpPr>
          <p:cNvPr id="12" name="stage-name-2">
            <a:extLst xmlns:a="http://schemas.openxmlformats.org/drawingml/2006/main">
              <a:ext uri="{FF2B5EF4-FFF2-40B4-BE49-F238E27FC236}">
                <a16:creationId xmlns:a16="http://schemas.microsoft.com/office/drawing/2014/main" id="{567B9426-42EA-4E4E-8B09-68C97BC1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44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3B23C"/>
                </a:solidFill>
              </a:defRPr>
            </a:pPr>
            <a:r>
              <a:rPr sz="1950" b="1">
                <a:solidFill>
                  <a:srgbClr val="F3B23C"/>
                </a:solidFill>
              </a:rPr>
              <a:t>Read</a:t>
            </a:r>
          </a:p>
        </p:txBody>
      </p:sp>
      <p:sp>
        <p:nvSpPr>
          <p:cNvPr id="13" name="stage-description-2">
            <a:extLst xmlns:a="http://schemas.openxmlformats.org/drawingml/2006/main">
              <a:ext uri="{FF2B5EF4-FFF2-40B4-BE49-F238E27FC236}">
                <a16:creationId xmlns:a16="http://schemas.microsoft.com/office/drawing/2014/main" id="{48A57406-20D2-4C0E-92B9-63DEDBE0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4815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32022"/>
                </a:solidFill>
              </a:defRPr>
            </a:pPr>
            <a:r>
              <a:rPr sz="1575">
                <a:solidFill>
                  <a:srgbClr val="132022"/>
                </a:solidFill>
              </a:rPr>
              <a:t>Load repo state, .blueprint artifacts, and command contracts.</a:t>
            </a:r>
          </a:p>
        </p:txBody>
      </p:sp>
      <p:sp>
        <p:nvSpPr>
          <p:cNvPr id="14" name="stage-mark-3">
            <a:extLst xmlns:a="http://schemas.openxmlformats.org/drawingml/2006/main">
              <a:ext uri="{FF2B5EF4-FFF2-40B4-BE49-F238E27FC236}">
                <a16:creationId xmlns:a16="http://schemas.microsoft.com/office/drawing/2014/main" id="{8101415C-C076-40AC-8E56-5F1426B4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9525">
            <a:solidFill>
              <a:srgbClr val="7C5CFF"/>
            </a:solidFill>
            <a:prstDash val="solid"/>
          </a:ln>
        </p:spPr>
      </p:sp>
      <p:sp>
        <p:nvSpPr>
          <p:cNvPr id="15" name="stage-name-3">
            <a:extLst xmlns:a="http://schemas.openxmlformats.org/drawingml/2006/main">
              <a:ext uri="{FF2B5EF4-FFF2-40B4-BE49-F238E27FC236}">
                <a16:creationId xmlns:a16="http://schemas.microsoft.com/office/drawing/2014/main" id="{332C8EA3-3FBD-460C-9737-5B67E928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144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C5CFF"/>
                </a:solidFill>
              </a:defRPr>
            </a:pPr>
            <a:r>
              <a:rPr sz="1950" b="1">
                <a:solidFill>
                  <a:srgbClr val="7C5CFF"/>
                </a:solidFill>
              </a:rPr>
              <a:t>Decide</a:t>
            </a:r>
          </a:p>
        </p:txBody>
      </p:sp>
      <p:sp>
        <p:nvSpPr>
          <p:cNvPr id="16" name="stage-description-3">
            <a:extLst xmlns:a="http://schemas.openxmlformats.org/drawingml/2006/main">
              <a:ext uri="{FF2B5EF4-FFF2-40B4-BE49-F238E27FC236}">
                <a16:creationId xmlns:a16="http://schemas.microsoft.com/office/drawing/2014/main" id="{D2637546-906D-4AED-A4BF-73812330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965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32022"/>
                </a:solidFill>
              </a:defRPr>
            </a:pPr>
            <a:r>
              <a:rPr sz="1575">
                <a:solidFill>
                  <a:srgbClr val="132022"/>
                </a:solidFill>
              </a:rPr>
              <a:t>Choose route, gate, or question before work starts.</a:t>
            </a:r>
          </a:p>
        </p:txBody>
      </p:sp>
      <p:sp>
        <p:nvSpPr>
          <p:cNvPr id="17" name="stage-mark-4">
            <a:extLst xmlns:a="http://schemas.openxmlformats.org/drawingml/2006/main">
              <a:ext uri="{FF2B5EF4-FFF2-40B4-BE49-F238E27FC236}">
                <a16:creationId xmlns:a16="http://schemas.microsoft.com/office/drawing/2014/main" id="{A6422229-3BC4-4F76-A3CA-D98C1AEE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8" name="stage-name-4">
            <a:extLst xmlns:a="http://schemas.openxmlformats.org/drawingml/2006/main">
              <a:ext uri="{FF2B5EF4-FFF2-40B4-BE49-F238E27FC236}">
                <a16:creationId xmlns:a16="http://schemas.microsoft.com/office/drawing/2014/main" id="{5BCD6B3C-CFB6-464E-8EA3-AC96179C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53050"/>
            <a:ext cx="144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B8D9"/>
                </a:solidFill>
              </a:defRPr>
            </a:pPr>
            <a:r>
              <a:rPr sz="1950" b="1">
                <a:solidFill>
                  <a:srgbClr val="00B8D9"/>
                </a:solidFill>
              </a:rPr>
              <a:t>Execute</a:t>
            </a:r>
          </a:p>
        </p:txBody>
      </p:sp>
      <p:sp>
        <p:nvSpPr>
          <p:cNvPr id="19" name="stage-description-4">
            <a:extLst xmlns:a="http://schemas.openxmlformats.org/drawingml/2006/main">
              <a:ext uri="{FF2B5EF4-FFF2-40B4-BE49-F238E27FC236}">
                <a16:creationId xmlns:a16="http://schemas.microsoft.com/office/drawing/2014/main" id="{48D9163E-E27F-46C2-8254-02D07A3B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9115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32022"/>
                </a:solidFill>
              </a:defRPr>
            </a:pPr>
            <a:r>
              <a:rPr sz="1575">
                <a:solidFill>
                  <a:srgbClr val="132022"/>
                </a:solidFill>
              </a:rPr>
              <a:t>Run the bounded task or hand off a defined agent job.</a:t>
            </a:r>
          </a:p>
        </p:txBody>
      </p:sp>
      <p:sp>
        <p:nvSpPr>
          <p:cNvPr id="20" name="stage-mark-5">
            <a:extLst xmlns:a="http://schemas.openxmlformats.org/drawingml/2006/main">
              <a:ext uri="{FF2B5EF4-FFF2-40B4-BE49-F238E27FC236}">
                <a16:creationId xmlns:a16="http://schemas.microsoft.com/office/drawing/2014/main" id="{2F7891E2-1DD8-43D3-BEFD-72B4DD5E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D6A0"/>
          </a:solidFill>
          <a:ln xmlns:a="http://schemas.openxmlformats.org/drawingml/2006/main" w="9525">
            <a:solidFill>
              <a:srgbClr val="64D6A0"/>
            </a:solidFill>
            <a:prstDash val="solid"/>
          </a:ln>
        </p:spPr>
      </p:sp>
      <p:sp>
        <p:nvSpPr>
          <p:cNvPr id="21" name="stage-name-5">
            <a:extLst xmlns:a="http://schemas.openxmlformats.org/drawingml/2006/main">
              <a:ext uri="{FF2B5EF4-FFF2-40B4-BE49-F238E27FC236}">
                <a16:creationId xmlns:a16="http://schemas.microsoft.com/office/drawing/2014/main" id="{DF2A4BA2-6508-4726-B208-B6C25A24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24550"/>
            <a:ext cx="144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D6A0"/>
                </a:solidFill>
              </a:defRPr>
            </a:pPr>
            <a:r>
              <a:rPr sz="1950" b="1">
                <a:solidFill>
                  <a:srgbClr val="64D6A0"/>
                </a:solidFill>
              </a:rPr>
              <a:t>Persist</a:t>
            </a:r>
          </a:p>
        </p:txBody>
      </p:sp>
      <p:sp>
        <p:nvSpPr>
          <p:cNvPr id="22" name="stage-description-5">
            <a:extLst xmlns:a="http://schemas.openxmlformats.org/drawingml/2006/main">
              <a:ext uri="{FF2B5EF4-FFF2-40B4-BE49-F238E27FC236}">
                <a16:creationId xmlns:a16="http://schemas.microsoft.com/office/drawing/2014/main" id="{16CF4296-5DEC-4ECB-A6AF-464F1E6A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6265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32022"/>
                </a:solidFill>
              </a:defRPr>
            </a:pPr>
            <a:r>
              <a:rPr sz="1575">
                <a:solidFill>
                  <a:srgbClr val="132022"/>
                </a:solidFill>
              </a:rPr>
              <a:t>Write durable artifacts through MCP-owned state paths.</a:t>
            </a:r>
          </a:p>
        </p:txBody>
      </p:sp>
      <p:sp>
        <p:nvSpPr>
          <p:cNvPr id="23" name="stage-mark-6">
            <a:extLst xmlns:a="http://schemas.openxmlformats.org/drawingml/2006/main">
              <a:ext uri="{FF2B5EF4-FFF2-40B4-BE49-F238E27FC236}">
                <a16:creationId xmlns:a16="http://schemas.microsoft.com/office/drawing/2014/main" id="{DF5A6B4F-0ABC-4AAF-A205-8ADD1BB3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1510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D6A0"/>
          </a:solidFill>
          <a:ln xmlns:a="http://schemas.openxmlformats.org/drawingml/2006/main" w="9525">
            <a:solidFill>
              <a:srgbClr val="64D6A0"/>
            </a:solidFill>
            <a:prstDash val="solid"/>
          </a:ln>
        </p:spPr>
      </p:sp>
      <p:sp>
        <p:nvSpPr>
          <p:cNvPr id="24" name="stage-name-6">
            <a:extLst xmlns:a="http://schemas.openxmlformats.org/drawingml/2006/main">
              <a:ext uri="{FF2B5EF4-FFF2-40B4-BE49-F238E27FC236}">
                <a16:creationId xmlns:a16="http://schemas.microsoft.com/office/drawing/2014/main" id="{0F62C872-C5CA-4516-B7C8-83E464FC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96050"/>
            <a:ext cx="144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D6A0"/>
                </a:solidFill>
              </a:defRPr>
            </a:pPr>
            <a:r>
              <a:rPr sz="1950" b="1">
                <a:solidFill>
                  <a:srgbClr val="64D6A0"/>
                </a:solidFill>
              </a:rPr>
              <a:t>Validate</a:t>
            </a:r>
          </a:p>
        </p:txBody>
      </p:sp>
      <p:sp>
        <p:nvSpPr>
          <p:cNvPr id="25" name="stage-description-6">
            <a:extLst xmlns:a="http://schemas.openxmlformats.org/drawingml/2006/main">
              <a:ext uri="{FF2B5EF4-FFF2-40B4-BE49-F238E27FC236}">
                <a16:creationId xmlns:a16="http://schemas.microsoft.com/office/drawing/2014/main" id="{4BF22DEA-84AD-4D76-A5DE-9708E5FC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53415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32022"/>
                </a:solidFill>
              </a:defRPr>
            </a:pPr>
            <a:r>
              <a:rPr sz="1575">
                <a:solidFill>
                  <a:srgbClr val="132022"/>
                </a:solidFill>
              </a:rPr>
              <a:t>Check evidence, contracts, and known failure modes.</a:t>
            </a:r>
          </a:p>
        </p:txBody>
      </p:sp>
      <p:sp>
        <p:nvSpPr>
          <p:cNvPr id="26" name="stage-mark-7">
            <a:extLst xmlns:a="http://schemas.openxmlformats.org/drawingml/2006/main">
              <a:ext uri="{FF2B5EF4-FFF2-40B4-BE49-F238E27FC236}">
                <a16:creationId xmlns:a16="http://schemas.microsoft.com/office/drawing/2014/main" id="{50D00CAD-4089-4032-BE57-46A555F7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8660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9525">
            <a:solidFill>
              <a:srgbClr val="FF6B4A"/>
            </a:solidFill>
            <a:prstDash val="solid"/>
          </a:ln>
        </p:spPr>
      </p:sp>
      <p:sp>
        <p:nvSpPr>
          <p:cNvPr id="27" name="stage-name-7">
            <a:extLst xmlns:a="http://schemas.openxmlformats.org/drawingml/2006/main">
              <a:ext uri="{FF2B5EF4-FFF2-40B4-BE49-F238E27FC236}">
                <a16:creationId xmlns:a16="http://schemas.microsoft.com/office/drawing/2014/main" id="{A8EDFB94-1258-4637-974F-C1C3EA07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67550"/>
            <a:ext cx="144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6B4A"/>
                </a:solidFill>
              </a:defRPr>
            </a:pPr>
            <a:r>
              <a:rPr sz="1950" b="1">
                <a:solidFill>
                  <a:srgbClr val="FF6B4A"/>
                </a:solidFill>
              </a:rPr>
              <a:t>Route</a:t>
            </a:r>
          </a:p>
        </p:txBody>
      </p:sp>
      <p:sp>
        <p:nvSpPr>
          <p:cNvPr id="28" name="stage-description-7">
            <a:extLst xmlns:a="http://schemas.openxmlformats.org/drawingml/2006/main">
              <a:ext uri="{FF2B5EF4-FFF2-40B4-BE49-F238E27FC236}">
                <a16:creationId xmlns:a16="http://schemas.microsoft.com/office/drawing/2014/main" id="{CB1C81ED-E1D2-4A67-98A6-D393DD6E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105650"/>
            <a:ext cx="773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32022"/>
                </a:solidFill>
              </a:defRPr>
            </a:pPr>
            <a:r>
              <a:rPr sz="1575">
                <a:solidFill>
                  <a:srgbClr val="132022"/>
                </a:solidFill>
              </a:rPr>
              <a:t>Close with status, blocker, and next safe action.</a:t>
            </a:r>
          </a:p>
        </p:txBody>
      </p:sp>
      <p:sp>
        <p:nvSpPr>
          <p:cNvPr id="29" name="benefits-panel">
            <a:extLst xmlns:a="http://schemas.openxmlformats.org/drawingml/2006/main">
              <a:ext uri="{FF2B5EF4-FFF2-40B4-BE49-F238E27FC236}">
                <a16:creationId xmlns:a16="http://schemas.microsoft.com/office/drawing/2014/main" id="{3DBA77EC-2B30-46FD-8786-8D905FA6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5464" y="3059430"/>
            <a:ext cx="664673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2"/>
          </a:solidFill>
          <a:ln xmlns:a="http://schemas.openxmlformats.org/drawingml/2006/main" w="9525">
            <a:solidFill>
              <a:srgbClr val="1D2D2E"/>
            </a:solidFill>
            <a:prstDash val="solid"/>
          </a:ln>
        </p:spPr>
      </p:sp>
      <p:sp>
        <p:nvSpPr>
          <p:cNvPr id="30" name="dot-coral">
            <a:extLst xmlns:a="http://schemas.openxmlformats.org/drawingml/2006/main">
              <a:ext uri="{FF2B5EF4-FFF2-40B4-BE49-F238E27FC236}">
                <a16:creationId xmlns:a16="http://schemas.microsoft.com/office/drawing/2014/main" id="{52206E4E-8C73-41E0-9212-A202C686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52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9525">
            <a:solidFill>
              <a:srgbClr val="FF6B4A"/>
            </a:solidFill>
            <a:prstDash val="solid"/>
          </a:ln>
        </p:spPr>
      </p:sp>
      <p:sp>
        <p:nvSpPr>
          <p:cNvPr id="31" name="dot-amber">
            <a:extLst xmlns:a="http://schemas.openxmlformats.org/drawingml/2006/main">
              <a:ext uri="{FF2B5EF4-FFF2-40B4-BE49-F238E27FC236}">
                <a16:creationId xmlns:a16="http://schemas.microsoft.com/office/drawing/2014/main" id="{DA7F13C9-8819-4FC1-A076-51DCB90C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352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C"/>
          </a:solidFill>
          <a:ln xmlns:a="http://schemas.openxmlformats.org/drawingml/2006/main" w="9525">
            <a:solidFill>
              <a:srgbClr val="F3B23C"/>
            </a:solidFill>
            <a:prstDash val="solid"/>
          </a:ln>
        </p:spPr>
      </p:sp>
      <p:sp>
        <p:nvSpPr>
          <p:cNvPr id="32" name="dot-mint">
            <a:extLst xmlns:a="http://schemas.openxmlformats.org/drawingml/2006/main">
              <a:ext uri="{FF2B5EF4-FFF2-40B4-BE49-F238E27FC236}">
                <a16:creationId xmlns:a16="http://schemas.microsoft.com/office/drawing/2014/main" id="{0EA38A1D-6F1A-43E9-B884-1EF2B888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352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D6A0"/>
          </a:solidFill>
          <a:ln xmlns:a="http://schemas.openxmlformats.org/drawingml/2006/main" w="9525">
            <a:solidFill>
              <a:srgbClr val="64D6A0"/>
            </a:solidFill>
            <a:prstDash val="solid"/>
          </a:ln>
        </p:spPr>
      </p:sp>
      <p:sp>
        <p:nvSpPr>
          <p:cNvPr id="33" name="benefits-heading">
            <a:extLst xmlns:a="http://schemas.openxmlformats.org/drawingml/2006/main">
              <a:ext uri="{FF2B5EF4-FFF2-40B4-BE49-F238E27FC236}">
                <a16:creationId xmlns:a16="http://schemas.microsoft.com/office/drawing/2014/main" id="{D1A16BD1-D9BC-4FA2-B72E-F7BABE71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676650"/>
            <a:ext cx="600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1E8"/>
                </a:solidFill>
              </a:defRPr>
            </a:pPr>
            <a:r>
              <a:rPr sz="2175" b="1">
                <a:solidFill>
                  <a:srgbClr val="F6F1E8"/>
                </a:solidFill>
              </a:rPr>
              <a:t>Why add it to every skill</a:t>
            </a:r>
          </a:p>
        </p:txBody>
      </p:sp>
      <p:sp>
        <p:nvSpPr>
          <p:cNvPr id="34" name="benefit-mark-1">
            <a:extLst xmlns:a="http://schemas.openxmlformats.org/drawingml/2006/main">
              <a:ext uri="{FF2B5EF4-FFF2-40B4-BE49-F238E27FC236}">
                <a16:creationId xmlns:a16="http://schemas.microsoft.com/office/drawing/2014/main" id="{1D3ECFDF-FA70-43A6-BF3E-15471EB6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19100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35" name="benefit-copy-1">
            <a:extLst xmlns:a="http://schemas.openxmlformats.org/drawingml/2006/main">
              <a:ext uri="{FF2B5EF4-FFF2-40B4-BE49-F238E27FC236}">
                <a16:creationId xmlns:a16="http://schemas.microsoft.com/office/drawing/2014/main" id="{9A4AC658-26D8-4F2C-AC42-90041B47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171950"/>
            <a:ext cx="5753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6F1E8"/>
                </a:solidFill>
              </a:defRPr>
            </a:pPr>
            <a:r>
              <a:rPr sz="1500">
                <a:solidFill>
                  <a:srgbClr val="F6F1E8"/>
                </a:solidFill>
              </a:rPr>
              <a:t>Shared progress language across commands, agents, docs, and handoffs.</a:t>
            </a:r>
          </a:p>
        </p:txBody>
      </p:sp>
      <p:sp>
        <p:nvSpPr>
          <p:cNvPr id="36" name="benefit-mark-2">
            <a:extLst xmlns:a="http://schemas.openxmlformats.org/drawingml/2006/main">
              <a:ext uri="{FF2B5EF4-FFF2-40B4-BE49-F238E27FC236}">
                <a16:creationId xmlns:a16="http://schemas.microsoft.com/office/drawing/2014/main" id="{989AA71D-508D-47B1-8600-AEE41A37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80060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23C"/>
          </a:solidFill>
          <a:ln xmlns:a="http://schemas.openxmlformats.org/drawingml/2006/main" w="9525">
            <a:solidFill>
              <a:srgbClr val="F3B23C"/>
            </a:solidFill>
            <a:prstDash val="solid"/>
          </a:ln>
        </p:spPr>
      </p:sp>
      <p:sp>
        <p:nvSpPr>
          <p:cNvPr id="37" name="benefit-copy-2">
            <a:extLst xmlns:a="http://schemas.openxmlformats.org/drawingml/2006/main">
              <a:ext uri="{FF2B5EF4-FFF2-40B4-BE49-F238E27FC236}">
                <a16:creationId xmlns:a16="http://schemas.microsoft.com/office/drawing/2014/main" id="{F88211DA-E5A2-469E-9A3F-326E6A41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800600"/>
            <a:ext cx="5753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6F1E8"/>
                </a:solidFill>
              </a:defRPr>
            </a:pPr>
            <a:r>
              <a:rPr sz="1500">
                <a:solidFill>
                  <a:srgbClr val="F6F1E8"/>
                </a:solidFill>
              </a:rPr>
              <a:t>Required reads and gates become visible before mutation.</a:t>
            </a:r>
          </a:p>
        </p:txBody>
      </p:sp>
      <p:sp>
        <p:nvSpPr>
          <p:cNvPr id="38" name="benefit-mark-3">
            <a:extLst xmlns:a="http://schemas.openxmlformats.org/drawingml/2006/main">
              <a:ext uri="{FF2B5EF4-FFF2-40B4-BE49-F238E27FC236}">
                <a16:creationId xmlns:a16="http://schemas.microsoft.com/office/drawing/2014/main" id="{E389B9C3-5990-4CAC-8F0D-7C933C9B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29590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D6A0"/>
          </a:solidFill>
          <a:ln xmlns:a="http://schemas.openxmlformats.org/drawingml/2006/main" w="9525">
            <a:solidFill>
              <a:srgbClr val="64D6A0"/>
            </a:solidFill>
            <a:prstDash val="solid"/>
          </a:ln>
        </p:spPr>
      </p:sp>
      <p:sp>
        <p:nvSpPr>
          <p:cNvPr id="39" name="benefit-copy-3">
            <a:extLst xmlns:a="http://schemas.openxmlformats.org/drawingml/2006/main">
              <a:ext uri="{FF2B5EF4-FFF2-40B4-BE49-F238E27FC236}">
                <a16:creationId xmlns:a16="http://schemas.microsoft.com/office/drawing/2014/main" id="{AE28FF06-C36C-4D7F-A2E0-F7C22FC1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295900"/>
            <a:ext cx="5753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6F1E8"/>
                </a:solidFill>
              </a:defRPr>
            </a:pPr>
            <a:r>
              <a:rPr sz="1500">
                <a:solidFill>
                  <a:srgbClr val="F6F1E8"/>
                </a:solidFill>
              </a:rPr>
              <a:t>Resumes can name resolved scope, active stage, pending gate, execution mode, and next safe action.</a:t>
            </a:r>
          </a:p>
        </p:txBody>
      </p:sp>
      <p:sp>
        <p:nvSpPr>
          <p:cNvPr id="40" name="benefit-mark-4">
            <a:extLst xmlns:a="http://schemas.openxmlformats.org/drawingml/2006/main">
              <a:ext uri="{FF2B5EF4-FFF2-40B4-BE49-F238E27FC236}">
                <a16:creationId xmlns:a16="http://schemas.microsoft.com/office/drawing/2014/main" id="{330B083D-DA68-4451-9921-8E588965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94360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9525">
            <a:solidFill>
              <a:srgbClr val="FF6B4A"/>
            </a:solidFill>
            <a:prstDash val="solid"/>
          </a:ln>
        </p:spPr>
      </p:sp>
      <p:sp>
        <p:nvSpPr>
          <p:cNvPr id="41" name="benefit-copy-4">
            <a:extLst xmlns:a="http://schemas.openxmlformats.org/drawingml/2006/main">
              <a:ext uri="{FF2B5EF4-FFF2-40B4-BE49-F238E27FC236}">
                <a16:creationId xmlns:a16="http://schemas.microsoft.com/office/drawing/2014/main" id="{A5BF20BD-6AC4-492C-AF13-59470BC2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924550"/>
            <a:ext cx="5753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6F1E8"/>
                </a:solidFill>
              </a:defRPr>
            </a:pPr>
            <a:r>
              <a:rPr sz="1500">
                <a:solidFill>
                  <a:srgbClr val="F6F1E8"/>
                </a:solidFill>
              </a:rPr>
              <a:t>Reviewers can spot drift when behavior skips a promised stage.</a:t>
            </a:r>
          </a:p>
        </p:txBody>
      </p:sp>
      <p:sp>
        <p:nvSpPr>
          <p:cNvPr id="4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5F038A3-5881-4A93-BB36-4E0EC777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05950"/>
            <a:ext cx="209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C9689"/>
                </a:solidFill>
              </a:defRPr>
            </a:pPr>
            <a:r>
              <a:rPr sz="1050">
                <a:solidFill>
                  <a:srgbClr val="9C9689"/>
                </a:solidFill>
              </a:rPr>
              <a:t>Blueprint team talk</a:t>
            </a:r>
          </a:p>
        </p:txBody>
      </p:sp>
      <p:sp>
        <p:nvSpPr>
          <p:cNvPr id="4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B030C69-0061-4E57-92A4-CE3C97C7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956310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D8D0C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96537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E4AEAF59-7366-4FEE-ADB4-3351F4C6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8BAE7DCD-3272-45F4-AC0A-CF2E0E1C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D64CE-7233-4DFA-860F-EBAF69E5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6B4A"/>
                </a:solidFill>
              </a:defRPr>
            </a:pPr>
            <a:r>
              <a:rPr sz="1350" b="1">
                <a:solidFill>
                  <a:srgbClr val="FF6B4A"/>
                </a:solidFill>
              </a:rPr>
              <a:t>Routing 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D2301-E59D-4199-BEBC-FA8528A3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6611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32022"/>
                </a:solidFill>
              </a:defRPr>
            </a:pPr>
            <a:r>
              <a:rPr sz="4650" b="1">
                <a:solidFill>
                  <a:srgbClr val="132022"/>
                </a:solidFill>
              </a:rPr>
              <a:t>If it is not implemented, Blueprint will not recommend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1726D-6830-43AB-B389-D8C0D6D0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6E6B61"/>
                </a:solidFill>
              </a:defRPr>
            </a:pPr>
            <a:r>
              <a:rPr sz="2100" b="0">
                <a:solidFill>
                  <a:srgbClr val="6E6B61"/>
                </a:solidFill>
              </a:rPr>
              <a:t>/blu, /blu-help, and /blu-progress surface only commands whose runtime contract is complete.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D7519-54E6-4042-94CE-86DD0F7A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7962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64D6A0"/>
                </a:solidFill>
              </a:defRPr>
            </a:pPr>
            <a:r>
              <a:rPr sz="3900" b="1">
                <a:solidFill>
                  <a:srgbClr val="64D6A0"/>
                </a:solidFill>
              </a:rPr>
              <a:t>Routable</a:t>
            </a:r>
          </a:p>
        </p:txBody>
      </p:sp>
      <p:sp>
        <p:nvSpPr>
          <p:cNvPr id="7" name="terminal">
            <a:extLst xmlns:a="http://schemas.openxmlformats.org/drawingml/2006/main">
              <a:ext uri="{FF2B5EF4-FFF2-40B4-BE49-F238E27FC236}">
                <a16:creationId xmlns:a16="http://schemas.microsoft.com/office/drawing/2014/main" id="{B6DE1E3B-CBBF-4F46-A3B1-00CA486E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7953375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132022"/>
          </a:solidFill>
          <a:ln xmlns:a="http://schemas.openxmlformats.org/drawingml/2006/main" w="19050">
            <a:solidFill>
              <a:srgbClr val="1D2D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3F268-29A2-4E13-82B7-BC1B4DB6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95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AAD49-93BC-464C-A29A-BE78750E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5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C"/>
          </a:solidFill>
          <a:ln xmlns:a="http://schemas.openxmlformats.org/drawingml/2006/main" w="0">
            <a:solidFill>
              <a:srgbClr val="F3B2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0476B-7F38-4899-B197-FAD2EDEA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D6A0"/>
          </a:solidFill>
          <a:ln xmlns:a="http://schemas.openxmlformats.org/drawingml/2006/main" w="0">
            <a:solidFill>
              <a:srgbClr val="64D6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B9E4E-F5EA-4946-BCED-31984DC6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81550"/>
            <a:ext cx="7315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FF9EE"/>
                </a:solidFill>
              </a:defRPr>
            </a:pPr>
            <a:r>
              <a:rPr sz="1875" b="0">
                <a:solidFill>
                  <a:srgbClr val="FFF9EE"/>
                </a:solidFill>
              </a:rPr>
              <a:t>status: implemented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B4AB5-821B-4509-A542-D56CE23F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81600"/>
            <a:ext cx="7315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FF9EE"/>
                </a:solidFill>
              </a:defRPr>
            </a:pPr>
            <a:r>
              <a:rPr sz="1875" b="0">
                <a:solidFill>
                  <a:srgbClr val="FFF9EE"/>
                </a:solidFill>
              </a:rPr>
              <a:t>manifest: present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1E18B-107D-4749-BCD7-C6CEC85C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62600"/>
            <a:ext cx="7315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FF9EE"/>
                </a:solidFill>
              </a:defRPr>
            </a:pPr>
            <a:r>
              <a:rPr sz="1875" b="0">
                <a:solidFill>
                  <a:srgbClr val="FFF9EE"/>
                </a:solidFill>
              </a:rPr>
              <a:t>primary skill: present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D3330-3191-486D-95D9-AB30D9A7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62650"/>
            <a:ext cx="7315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FF9EE"/>
                </a:solidFill>
              </a:defRPr>
            </a:pPr>
            <a:r>
              <a:rPr sz="1875" b="0">
                <a:solidFill>
                  <a:srgbClr val="FFF9EE"/>
                </a:solidFill>
              </a:rPr>
              <a:t>required MCP tools: present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72222-8DB2-4EF1-8A91-216C36C5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343650"/>
            <a:ext cx="7315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2B52E-FC44-458D-A866-830DB900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743700"/>
            <a:ext cx="7315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FF9EE"/>
                </a:solidFill>
              </a:defRPr>
            </a:pPr>
            <a:r>
              <a:rPr sz="1875" b="0">
                <a:solidFill>
                  <a:srgbClr val="FFF9EE"/>
                </a:solidFill>
              </a:rPr>
              <a:t>/blu-plan-phase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2B5DC-608C-4728-AA0F-C2EBD756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24700"/>
            <a:ext cx="7315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FF9EE"/>
                </a:solidFill>
              </a:defRPr>
            </a:pPr>
            <a:r>
              <a:rPr sz="1875" b="0">
                <a:solidFill>
                  <a:srgbClr val="FFF9EE"/>
                </a:solidFill>
              </a:rPr>
              <a:t>/blu-execute-phase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F46E1-947B-4F03-A731-8F465CC0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524750"/>
            <a:ext cx="7315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FF9EE"/>
                </a:solidFill>
              </a:defRPr>
            </a:pPr>
            <a:r>
              <a:rPr sz="1875" b="0">
                <a:solidFill>
                  <a:srgbClr val="FFF9EE"/>
                </a:solidFill>
              </a:rPr>
              <a:t>/blu-ship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8A3575-E1CE-443B-A235-DD942FD7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86200"/>
            <a:ext cx="7962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FF6B4A"/>
                </a:solidFill>
              </a:defRPr>
            </a:pPr>
            <a:r>
              <a:rPr sz="3900" b="1">
                <a:solidFill>
                  <a:srgbClr val="FF6B4A"/>
                </a:solidFill>
              </a:rPr>
              <a:t>Held back</a:t>
            </a:r>
          </a:p>
        </p:txBody>
      </p:sp>
      <p:sp>
        <p:nvSpPr>
          <p:cNvPr id="20" name="terminal">
            <a:extLst xmlns:a="http://schemas.openxmlformats.org/drawingml/2006/main">
              <a:ext uri="{FF2B5EF4-FFF2-40B4-BE49-F238E27FC236}">
                <a16:creationId xmlns:a16="http://schemas.microsoft.com/office/drawing/2014/main" id="{81B3ED81-B48C-4235-8E7D-25E8ABD5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648200"/>
            <a:ext cx="7953375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2B2420"/>
          </a:solidFill>
          <a:ln xmlns:a="http://schemas.openxmlformats.org/drawingml/2006/main" w="19050">
            <a:solidFill>
              <a:srgbClr val="1D2D2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D4BBB6-D300-4AA1-A058-A5DDDBDD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8958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7C81C-2292-4BC3-B5A2-39351E54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8958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C"/>
          </a:solidFill>
          <a:ln xmlns:a="http://schemas.openxmlformats.org/drawingml/2006/main" w="0">
            <a:solidFill>
              <a:srgbClr val="F3B2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BA1433-9D25-4E05-94EE-FE223A8F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958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D6A0"/>
          </a:solidFill>
          <a:ln xmlns:a="http://schemas.openxmlformats.org/drawingml/2006/main" w="0">
            <a:solidFill>
              <a:srgbClr val="64D6A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1E563C-BFD1-41B8-BF65-3F0FF459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181600"/>
            <a:ext cx="7315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FF9EE"/>
                </a:solidFill>
              </a:defRPr>
            </a:pPr>
            <a:r>
              <a:rPr sz="1875" b="0">
                <a:solidFill>
                  <a:srgbClr val="FFF9EE"/>
                </a:solidFill>
              </a:rPr>
              <a:t>status: planned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0A6770-0D8F-43CD-8AC0-A269EB53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581650"/>
            <a:ext cx="7315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FF9EE"/>
                </a:solidFill>
              </a:defRPr>
            </a:pPr>
            <a:r>
              <a:rPr sz="1875" b="0">
                <a:solidFill>
                  <a:srgbClr val="FFF9EE"/>
                </a:solidFill>
              </a:rPr>
              <a:t>manifest / skill / tools: incomplete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B75F9C-5023-49FE-A79C-556F5863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962650"/>
            <a:ext cx="7315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FF9EE"/>
                </a:solidFill>
              </a:defRPr>
            </a:pPr>
            <a:r>
              <a:rPr sz="1875" b="0">
                <a:solidFill>
                  <a:srgbClr val="FFF9EE"/>
                </a:solidFill>
              </a:rPr>
              <a:t>router: do not advertise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FF8BF6-DA71-4F95-A486-5ACD419C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362700"/>
            <a:ext cx="7315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F103AE-7259-418D-A80C-08CE2237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743700"/>
            <a:ext cx="7315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FF9EE"/>
                </a:solidFill>
              </a:defRPr>
            </a:pPr>
            <a:r>
              <a:rPr sz="1875" b="0">
                <a:solidFill>
                  <a:srgbClr val="FFF9EE"/>
                </a:solidFill>
              </a:rPr>
              <a:t>/blu-impact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4A146A-9C45-47CF-83D9-88528545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143750"/>
            <a:ext cx="7315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FF9EE"/>
                </a:solidFill>
              </a:defRPr>
            </a:pPr>
            <a:r>
              <a:rPr sz="1875" b="0">
                <a:solidFill>
                  <a:srgbClr val="FFF9EE"/>
                </a:solidFill>
              </a:rPr>
              <a:t>planned future teaser only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2B064B-92AC-41DB-A304-963F053C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9A9386"/>
                </a:solidFill>
              </a:defRPr>
            </a:pPr>
            <a:r>
              <a:rPr sz="1050" b="0">
                <a:solidFill>
                  <a:srgbClr val="9A9386"/>
                </a:solidFill>
              </a:rPr>
              <a:t>Blueprint team talk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95B344-ED24-4FBF-871D-3D64647E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95821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D8D0C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73969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55543F5D-21BD-4DA7-95AB-04CBB215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BAEE7B71-202E-4D0E-8BE7-9C40E495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83ADF-E4D0-49FC-B719-84854B53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6B4A"/>
                </a:solidFill>
              </a:defRPr>
            </a:pPr>
            <a:r>
              <a:rPr sz="1350" b="1">
                <a:solidFill>
                  <a:srgbClr val="FF6B4A"/>
                </a:solidFill>
              </a:rPr>
              <a:t>Lifecycle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D8CB5-0319-4186-96B8-4EE39498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6611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32022"/>
                </a:solidFill>
              </a:defRPr>
            </a:pPr>
            <a:r>
              <a:rPr sz="4650" b="1">
                <a:solidFill>
                  <a:srgbClr val="132022"/>
                </a:solidFill>
              </a:rPr>
              <a:t>Evidence, not vibes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CC462-E16B-41CC-9D9A-64A78D5F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6E6B61"/>
                </a:solidFill>
              </a:defRPr>
            </a:pPr>
            <a:r>
              <a:rPr sz="2100" b="0">
                <a:solidFill>
                  <a:srgbClr val="6E6B61"/>
                </a:solidFill>
              </a:rPr>
              <a:t>Done means saved execution, validation, UAT, review signals, and the next safe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E2F6E-BDBF-4493-83E3-7BC3CFE1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57700"/>
            <a:ext cx="552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42950-7D3C-492F-B356-EF9A722A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6725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022"/>
                </a:solidFill>
              </a:defRPr>
            </a:pPr>
            <a:r>
              <a:rPr sz="1650" b="1">
                <a:solidFill>
                  <a:srgbClr val="132022"/>
                </a:solidFill>
              </a:rPr>
              <a:t>discuss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88FA8-058D-47D2-913D-3A8AD132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5295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6E6B61"/>
                </a:solidFill>
              </a:defRPr>
            </a:pPr>
            <a:r>
              <a:rPr sz="1800" b="1">
                <a:solidFill>
                  <a:srgbClr val="6E6B61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DA02D-BABC-4E95-9CD9-5B454FA2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57700"/>
            <a:ext cx="552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C"/>
          </a:solidFill>
          <a:ln xmlns:a="http://schemas.openxmlformats.org/drawingml/2006/main" w="0">
            <a:solidFill>
              <a:srgbClr val="F3B2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2BFED-9246-4BB3-8C32-0A7FCECB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022"/>
                </a:solidFill>
              </a:defRPr>
            </a:pPr>
            <a:r>
              <a:rPr sz="1650" b="1">
                <a:solidFill>
                  <a:srgbClr val="132022"/>
                </a:solidFill>
              </a:rPr>
              <a:t>research /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BA959-1D9A-47AA-AA9E-860941E4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5295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6E6B61"/>
                </a:solidFill>
              </a:defRPr>
            </a:pPr>
            <a:r>
              <a:rPr sz="1800" b="1">
                <a:solidFill>
                  <a:srgbClr val="6E6B61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FEFE0-4527-4496-A876-071D9DA7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57700"/>
            <a:ext cx="552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3582A-A046-45E5-9B46-16047B35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66725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022"/>
                </a:solidFill>
              </a:defRPr>
            </a:pPr>
            <a:r>
              <a:rPr sz="1650" b="1">
                <a:solidFill>
                  <a:srgbClr val="132022"/>
                </a:solidFill>
              </a:rPr>
              <a:t>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5E1B89-3521-4148-89BE-BE53B192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55295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6E6B61"/>
                </a:solidFill>
              </a:defRPr>
            </a:pPr>
            <a:r>
              <a:rPr sz="1800" b="1">
                <a:solidFill>
                  <a:srgbClr val="6E6B61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EDCB1-E688-46B8-AFD3-407C3C7F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4457700"/>
            <a:ext cx="552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7457EA-2877-44B5-B75A-CBDBD7A0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66725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022"/>
                </a:solidFill>
              </a:defRPr>
            </a:pPr>
            <a:r>
              <a:rPr sz="1650" b="1">
                <a:solidFill>
                  <a:srgbClr val="132022"/>
                </a:solidFill>
              </a:rPr>
              <a:t>execute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F4743-4DA8-45ED-8F4A-1907989B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05400"/>
            <a:ext cx="552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D6A0"/>
          </a:solidFill>
          <a:ln xmlns:a="http://schemas.openxmlformats.org/drawingml/2006/main" w="0">
            <a:solidFill>
              <a:srgbClr val="64D6A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6B78D-A129-43E7-84B5-63AD168C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29590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022"/>
                </a:solidFill>
              </a:defRPr>
            </a:pPr>
            <a:r>
              <a:rPr sz="1650" b="1">
                <a:solidFill>
                  <a:srgbClr val="132022"/>
                </a:solidFill>
              </a:rPr>
              <a:t>validate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4FF92-5F4F-4A12-91A3-588BE8FA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8160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6E6B61"/>
                </a:solidFill>
              </a:defRPr>
            </a:pPr>
            <a:r>
              <a:rPr sz="1800" b="1">
                <a:solidFill>
                  <a:srgbClr val="6E6B61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C2A83A-F83D-4CA8-8F0A-82ECBB36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105400"/>
            <a:ext cx="552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D6A0"/>
          </a:solidFill>
          <a:ln xmlns:a="http://schemas.openxmlformats.org/drawingml/2006/main" w="0">
            <a:solidFill>
              <a:srgbClr val="64D6A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7C544-E5C2-415B-B87C-D1E550B9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9590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022"/>
                </a:solidFill>
              </a:defRPr>
            </a:pPr>
            <a:r>
              <a:rPr sz="1650" b="1">
                <a:solidFill>
                  <a:srgbClr val="132022"/>
                </a:solidFill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F6A535-EE7B-4841-9A09-5324E888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18160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6E6B61"/>
                </a:solidFill>
              </a:defRPr>
            </a:pPr>
            <a:r>
              <a:rPr sz="1800" b="1">
                <a:solidFill>
                  <a:srgbClr val="6E6B61"/>
                </a:solidFill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93CB0-B128-4E20-9DF7-5A9C94F6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105400"/>
            <a:ext cx="552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2B0B8A-7632-43D6-99A1-A1B8446D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29590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022"/>
                </a:solidFill>
              </a:defRPr>
            </a:pPr>
            <a:r>
              <a:rPr sz="1650" b="1">
                <a:solidFill>
                  <a:srgbClr val="132022"/>
                </a:solidFill>
              </a:rPr>
              <a:t>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CE189B-4D1D-4F78-9A8E-BD1B8E9D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0275"/>
            <a:ext cx="5270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F7FA"/>
          </a:solidFill>
          <a:ln xmlns:a="http://schemas.openxmlformats.org/drawingml/2006/main" w="19050">
            <a:solidFill>
              <a:srgbClr val="00B8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CAFCCC-EE7B-4291-AD01-86A8426C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48400"/>
            <a:ext cx="47434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32022"/>
                </a:solidFill>
              </a:defRPr>
            </a:pPr>
            <a:r>
              <a:rPr sz="2250" b="1">
                <a:solidFill>
                  <a:srgbClr val="132022"/>
                </a:solidFill>
              </a:rPr>
              <a:t>XX-PLAN.md</a:t>
            </a:r>
          </a:p>
          <a:p xmlns:a="http://schemas.openxmlformats.org/drawingml/2006/main">
            <a:pPr>
              <a:buNone/>
              <a:defRPr sz="2250" b="1">
                <a:solidFill>
                  <a:srgbClr val="132022"/>
                </a:solidFill>
              </a:defRPr>
            </a:pPr>
            <a:r>
              <a:rPr sz="2250" b="1">
                <a:solidFill>
                  <a:srgbClr val="132022"/>
                </a:solidFill>
              </a:rPr>
              <a:t>what to 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49B4EA-011A-44BD-A83D-C778B9C4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750" y="6010275"/>
            <a:ext cx="5270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F5E8"/>
          </a:solidFill>
          <a:ln xmlns:a="http://schemas.openxmlformats.org/drawingml/2006/main" w="19050">
            <a:solidFill>
              <a:srgbClr val="64D6A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16647B-EE3E-482B-8E47-56E40AC6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6248400"/>
            <a:ext cx="47434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32022"/>
                </a:solidFill>
              </a:defRPr>
            </a:pPr>
            <a:r>
              <a:rPr sz="2250" b="1">
                <a:solidFill>
                  <a:srgbClr val="132022"/>
                </a:solidFill>
              </a:rPr>
              <a:t>XX-SUMMARY.md</a:t>
            </a:r>
          </a:p>
          <a:p xmlns:a="http://schemas.openxmlformats.org/drawingml/2006/main">
            <a:pPr>
              <a:buNone/>
              <a:defRPr sz="2250" b="1">
                <a:solidFill>
                  <a:srgbClr val="132022"/>
                </a:solidFill>
              </a:defRPr>
            </a:pPr>
            <a:r>
              <a:rPr sz="2250" b="1">
                <a:solidFill>
                  <a:srgbClr val="132022"/>
                </a:solidFill>
              </a:rPr>
              <a:t>what changed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CBE6E0-00FC-4DB8-A777-AAAE3033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9300" y="6010275"/>
            <a:ext cx="5270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E3D8"/>
          </a:solidFill>
          <a:ln xmlns:a="http://schemas.openxmlformats.org/drawingml/2006/main" w="19050">
            <a:solidFill>
              <a:srgbClr val="FF6B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2465C9-1F9E-4780-932E-EE40907C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6248400"/>
            <a:ext cx="47434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32022"/>
                </a:solidFill>
              </a:defRPr>
            </a:pPr>
            <a:r>
              <a:rPr sz="2250" b="1">
                <a:solidFill>
                  <a:srgbClr val="132022"/>
                </a:solidFill>
              </a:rPr>
              <a:t>XX-REVIEW.md</a:t>
            </a:r>
          </a:p>
          <a:p xmlns:a="http://schemas.openxmlformats.org/drawingml/2006/main">
            <a:pPr>
              <a:buNone/>
              <a:defRPr sz="2250" b="1">
                <a:solidFill>
                  <a:srgbClr val="132022"/>
                </a:solidFill>
              </a:defRPr>
            </a:pPr>
            <a:r>
              <a:rPr sz="2250" b="1">
                <a:solidFill>
                  <a:srgbClr val="132022"/>
                </a:solidFill>
              </a:rPr>
              <a:t>what remains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417B93-A876-407B-BAE1-8A5C3905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9A9386"/>
                </a:solidFill>
              </a:defRPr>
            </a:pPr>
            <a:r>
              <a:rPr sz="1050" b="0">
                <a:solidFill>
                  <a:srgbClr val="9A9386"/>
                </a:solidFill>
              </a:rPr>
              <a:t>Blueprint team talk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C4E565-BFD5-4E6C-9F90-321281F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95821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D8D0C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15627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0E990D02-0A6C-456B-83E3-39BD8282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BA8221BC-ED76-432F-85E1-9EB7D5CB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FB2BB-6A07-4BE4-BEBD-02F24FE7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6B4A"/>
                </a:solidFill>
              </a:defRPr>
            </a:pPr>
            <a:r>
              <a:rPr sz="1350" b="1">
                <a:solidFill>
                  <a:srgbClr val="FF6B4A"/>
                </a:solidFill>
              </a:rPr>
              <a:t>Safety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C8275-9E3A-42A7-BBB6-8D6B2BC4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6611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32022"/>
                </a:solidFill>
              </a:defRPr>
            </a:pPr>
            <a:r>
              <a:rPr sz="4650" b="1">
                <a:solidFill>
                  <a:srgbClr val="132022"/>
                </a:solidFill>
              </a:rPr>
              <a:t>Different actions deserve different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30804-696D-442B-879F-807648B7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6E6B61"/>
                </a:solidFill>
              </a:defRPr>
            </a:pPr>
            <a:r>
              <a:rPr sz="2100" b="0">
                <a:solidFill>
                  <a:srgbClr val="6E6B61"/>
                </a:solidFill>
              </a:rPr>
              <a:t>Blueprint separates guidance, report writes, repo edits, and high-risk git or workspace operations.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A1BDD-3478-4699-81AC-1A6F6A90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1714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D6A0"/>
          </a:solidFill>
          <a:ln xmlns:a="http://schemas.openxmlformats.org/drawingml/2006/main" w="0">
            <a:solidFill>
              <a:srgbClr val="64D6A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D9910-7507-44B5-B010-9BE42F6C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409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32022"/>
                </a:solidFill>
              </a:defRPr>
            </a:pPr>
            <a:r>
              <a:rPr sz="2700" b="1">
                <a:solidFill>
                  <a:srgbClr val="132022"/>
                </a:solidFill>
              </a:rPr>
              <a:t>Read-only guidance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B4B1E-BC74-4531-9C53-ED9AB0E8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67150"/>
            <a:ext cx="1188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6E6B61"/>
                </a:solidFill>
              </a:defRPr>
            </a:pPr>
            <a:r>
              <a:rPr sz="2100" b="0">
                <a:solidFill>
                  <a:srgbClr val="6E6B61"/>
                </a:solidFill>
              </a:rPr>
              <a:t>/blu-help, /blu-progress, /blu-next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47A0B-AD30-42FF-837E-9BC6F4C3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714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51C17-2584-43F1-8468-87899BCE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91100"/>
            <a:ext cx="409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32022"/>
                </a:solidFill>
              </a:defRPr>
            </a:pPr>
            <a:r>
              <a:rPr sz="2700" b="1">
                <a:solidFill>
                  <a:srgbClr val="132022"/>
                </a:solidFill>
              </a:rPr>
              <a:t>Report-backed writes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BD18C-784F-465E-8EDE-9F778750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29200"/>
            <a:ext cx="1188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6E6B61"/>
                </a:solidFill>
              </a:defRPr>
            </a:pPr>
            <a:r>
              <a:rPr sz="2100" b="0">
                <a:solidFill>
                  <a:srgbClr val="6E6B61"/>
                </a:solidFill>
              </a:rPr>
              <a:t>reviews, docs, milestone reports, planned impact reports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0AFB3-013E-4A7B-8229-ABDF8E81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714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C"/>
          </a:solidFill>
          <a:ln xmlns:a="http://schemas.openxmlformats.org/drawingml/2006/main" w="0">
            <a:solidFill>
              <a:srgbClr val="F3B2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AA224-6428-4E63-8321-B1709A13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53150"/>
            <a:ext cx="409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32022"/>
                </a:solidFill>
              </a:defRPr>
            </a:pPr>
            <a:r>
              <a:rPr sz="2700" b="1">
                <a:solidFill>
                  <a:srgbClr val="132022"/>
                </a:solidFill>
              </a:rPr>
              <a:t>Repo mutation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76B84-F369-4264-9763-AD9846A9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191250"/>
            <a:ext cx="1188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6E6B61"/>
                </a:solidFill>
              </a:defRPr>
            </a:pPr>
            <a:r>
              <a:rPr sz="2100" b="0">
                <a:solidFill>
                  <a:srgbClr val="6E6B61"/>
                </a:solidFill>
              </a:rPr>
              <a:t>execute-phase, quick, code-review-fix, add-tests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F2815-1D92-4E3C-A75A-A480FE19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86600"/>
            <a:ext cx="1714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305212-41AC-4695-BD82-776C8C63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315200"/>
            <a:ext cx="409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32022"/>
                </a:solidFill>
              </a:defRPr>
            </a:pPr>
            <a:r>
              <a:rPr sz="2700" b="1">
                <a:solidFill>
                  <a:srgbClr val="132022"/>
                </a:solidFill>
              </a:rPr>
              <a:t>Confirmation-gated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A8C768-10F0-49C1-A121-F1614925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353300"/>
            <a:ext cx="1188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6E6B61"/>
                </a:solidFill>
              </a:defRPr>
            </a:pPr>
            <a:r>
              <a:rPr sz="2100" b="0">
                <a:solidFill>
                  <a:srgbClr val="6E6B61"/>
                </a:solidFill>
              </a:rPr>
              <a:t>ship, undo, cleanup, workspaces, patch replay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E2F093-AC85-45AA-AB13-28143873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9A9386"/>
                </a:solidFill>
              </a:defRPr>
            </a:pPr>
            <a:r>
              <a:rPr sz="1050" b="0">
                <a:solidFill>
                  <a:srgbClr val="9A9386"/>
                </a:solidFill>
              </a:rPr>
              <a:t>Blueprint team talk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85299-C397-469F-A812-9490B1B3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95821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D8D0C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66747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F0C7EEC9-18F8-4959-97E1-B73D66FB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EC51E035-C4A9-4A08-B15A-E53695E9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9F87D-1D2F-4A6D-B1AB-C7ABFF1B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6B4A"/>
                </a:solidFill>
              </a:defRPr>
            </a:pPr>
            <a:r>
              <a:rPr sz="1350" b="1">
                <a:solidFill>
                  <a:srgbClr val="FF6B4A"/>
                </a:solidFill>
              </a:rPr>
              <a:t>Team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C240B-4045-42AC-9289-A2C834DD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6611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32022"/>
                </a:solidFill>
              </a:defRPr>
            </a:pPr>
            <a:r>
              <a:rPr sz="4650" b="1">
                <a:solidFill>
                  <a:srgbClr val="132022"/>
                </a:solidFill>
              </a:rPr>
              <a:t>Team payoff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9EB44-E783-4660-A56F-54EF719A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6E6B61"/>
                </a:solidFill>
              </a:defRPr>
            </a:pPr>
            <a:r>
              <a:rPr sz="2100" b="0">
                <a:solidFill>
                  <a:srgbClr val="6E6B61"/>
                </a:solidFill>
              </a:rPr>
              <a:t>Less mystery around agent output, more confidence around the work that ships.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C57CD-1F08-467E-A423-8E59CA20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6781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FF6B4A"/>
                </a:solidFill>
              </a:defRPr>
            </a:pPr>
            <a:r>
              <a:rPr sz="4050" b="1">
                <a:solidFill>
                  <a:srgbClr val="FF6B4A"/>
                </a:solidFill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1EDC6-576F-492A-837A-E163D7C9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CD416-CB08-453F-9B7B-11F9B75E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6515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Prompt history as source of truth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67D37-8FA9-4818-873D-E05581DE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19808-B191-4DC3-B2D2-03DFE014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76900"/>
            <a:ext cx="6515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Reviewer reconstructs intent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989F9-C50B-4D43-A0CB-97AE4C52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484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99285-5346-492B-8872-DFD96915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48400"/>
            <a:ext cx="6515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Next session starts cold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AB5DE-6046-4012-8F43-DEC4C25B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199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F2398-04DD-4862-89FB-DAF58A22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819900"/>
            <a:ext cx="6515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Done is a feeling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8CC7F-65AC-403C-BD27-51B2FFD0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9590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D8D0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B5F9A-63C1-4C3E-A75A-DE0FF343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524500"/>
            <a:ext cx="1428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32022"/>
                </a:solidFill>
              </a:defRPr>
            </a:pPr>
            <a:r>
              <a:rPr sz="1800" b="1">
                <a:solidFill>
                  <a:srgbClr val="132022"/>
                </a:solidFill>
              </a:rPr>
              <a:t>repo</a:t>
            </a:r>
          </a:p>
          <a:p xmlns:a="http://schemas.openxmlformats.org/drawingml/2006/main">
            <a:pPr>
              <a:buNone/>
              <a:defRPr sz="1800" b="1">
                <a:solidFill>
                  <a:srgbClr val="132022"/>
                </a:solidFill>
              </a:defRPr>
            </a:pPr>
            <a:r>
              <a:rPr sz="1800" b="1">
                <a:solidFill>
                  <a:srgbClr val="132022"/>
                </a:solidFill>
              </a:rPr>
              <a:t>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512D15-A3ED-40D4-9401-308A8274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17220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D8D0C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FFCABB-FC91-4E92-B818-92C3184E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305300"/>
            <a:ext cx="7486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64D6A0"/>
                </a:solidFill>
              </a:defRPr>
            </a:pPr>
            <a:r>
              <a:rPr sz="4050" b="1">
                <a:solidFill>
                  <a:srgbClr val="64D6A0"/>
                </a:solidFill>
              </a:rPr>
              <a:t>After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467C1-CC12-4D72-A282-28FD3248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054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D6A0"/>
          </a:solidFill>
          <a:ln xmlns:a="http://schemas.openxmlformats.org/drawingml/2006/main" w="0">
            <a:solidFill>
              <a:srgbClr val="64D6A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5E2FC6-FA78-40E1-857B-DEACC52A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105400"/>
            <a:ext cx="721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Artifacts carry decisions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A7693C-8790-4E68-9623-C4981EA0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6769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D6A0"/>
          </a:solidFill>
          <a:ln xmlns:a="http://schemas.openxmlformats.org/drawingml/2006/main" w="0">
            <a:solidFill>
              <a:srgbClr val="64D6A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2C0641-45E4-43B8-89F7-ACB48619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676900"/>
            <a:ext cx="721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Review scope is visible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D4B705-7E94-4168-8052-3AC12021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2484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D6A0"/>
          </a:solidFill>
          <a:ln xmlns:a="http://schemas.openxmlformats.org/drawingml/2006/main" w="0">
            <a:solidFill>
              <a:srgbClr val="64D6A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3E7B0B-0028-4FC7-848A-607610DE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6248400"/>
            <a:ext cx="721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Resume has a handoff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019E23-B56D-43F6-91D7-815B1884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8199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D6A0"/>
          </a:solidFill>
          <a:ln xmlns:a="http://schemas.openxmlformats.org/drawingml/2006/main" w="0">
            <a:solidFill>
              <a:srgbClr val="64D6A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6DF6BA-F669-439B-9346-C8D2542B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6819900"/>
            <a:ext cx="721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Done has validation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56923B-1911-47FD-A6A8-6ED6AABC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9A9386"/>
                </a:solidFill>
              </a:defRPr>
            </a:pPr>
            <a:r>
              <a:rPr sz="1050" b="0">
                <a:solidFill>
                  <a:srgbClr val="9A9386"/>
                </a:solidFill>
              </a:rPr>
              <a:t>Blueprint team talk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D7A061-AF6F-4CA5-9DBE-A4918D80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95821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D8D0C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849519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A49138CD-00C0-45F3-A902-CBF1BA11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9BF7DAE7-FFAA-4E90-B616-6A5AC021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83555-D57E-41FC-8BAF-CA8EAE76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6B4A"/>
                </a:solidFill>
              </a:defRPr>
            </a:pPr>
            <a:r>
              <a:rPr sz="1350" b="1">
                <a:solidFill>
                  <a:srgbClr val="FF6B4A"/>
                </a:solidFill>
              </a:rPr>
              <a:t>Future teaser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2D3F6-3703-429E-924F-95B02BD5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6611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32022"/>
                </a:solidFill>
              </a:defRPr>
            </a:pPr>
            <a:r>
              <a:rPr sz="4650" b="1">
                <a:solidFill>
                  <a:srgbClr val="132022"/>
                </a:solidFill>
              </a:rPr>
              <a:t>/blu-impact: blast radius before merge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3BA91-7B39-453F-885D-062AE20F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6E6B61"/>
                </a:solidFill>
              </a:defRPr>
            </a:pPr>
            <a:r>
              <a:rPr sz="2100" b="0">
                <a:solidFill>
                  <a:srgbClr val="6E6B61"/>
                </a:solidFill>
              </a:rPr>
              <a:t>Planned, not public yet: changed files plus Blueprint context become an impact report.</a:t>
            </a:r>
          </a:p>
        </p:txBody>
      </p:sp>
      <p:sp>
        <p:nvSpPr>
          <p:cNvPr id="6" name="terminal">
            <a:extLst xmlns:a="http://schemas.openxmlformats.org/drawingml/2006/main">
              <a:ext uri="{FF2B5EF4-FFF2-40B4-BE49-F238E27FC236}">
                <a16:creationId xmlns:a16="http://schemas.microsoft.com/office/drawing/2014/main" id="{1DA9D2D0-69B3-45CE-A948-40BC8E85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7378446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132022"/>
          </a:solidFill>
          <a:ln xmlns:a="http://schemas.openxmlformats.org/drawingml/2006/main" w="19050">
            <a:solidFill>
              <a:srgbClr val="1D2D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09DC4-784F-4602-8DE3-31D0B4AB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321C5-0052-4C4B-A53D-6272B0DB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C"/>
          </a:solidFill>
          <a:ln xmlns:a="http://schemas.openxmlformats.org/drawingml/2006/main" w="0">
            <a:solidFill>
              <a:srgbClr val="F3B2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CACF8-DB92-4567-B6DE-D2EE48E2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D6A0"/>
          </a:solidFill>
          <a:ln xmlns:a="http://schemas.openxmlformats.org/drawingml/2006/main" w="0">
            <a:solidFill>
              <a:srgbClr val="64D6A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C75E5-95F9-402D-8A37-7386DCC3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95800"/>
            <a:ext cx="6724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9EE"/>
                </a:solidFill>
              </a:defRPr>
            </a:pPr>
            <a:r>
              <a:rPr sz="2100" b="0">
                <a:solidFill>
                  <a:srgbClr val="FFF9EE"/>
                </a:solidFill>
              </a:rPr>
              <a:t>$ /blu-impact --staged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E23F7-2D7E-42B6-965F-EB024E2D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14900"/>
            <a:ext cx="6724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9EE"/>
                </a:solidFill>
              </a:defRPr>
            </a:pPr>
            <a:r>
              <a:rPr sz="2100" b="0">
                <a:solidFill>
                  <a:srgbClr val="FFF9EE"/>
                </a:solidFill>
              </a:rPr>
              <a:t>scope: 12 changed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598CC-7786-43B8-84E1-1E0B15F1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34000"/>
            <a:ext cx="6724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9EE"/>
                </a:solidFill>
              </a:defRPr>
            </a:pPr>
            <a:r>
              <a:rPr sz="2100" b="0">
                <a:solidFill>
                  <a:srgbClr val="FFF9EE"/>
                </a:solidFill>
              </a:rPr>
              <a:t>confidence: partial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BCD44-CCAC-422E-AE44-AC2489E2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53100"/>
            <a:ext cx="6724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9EE"/>
                </a:solidFill>
              </a:defRPr>
            </a:pPr>
            <a:r>
              <a:rPr sz="2100" b="0">
                <a:solidFill>
                  <a:srgbClr val="FFF9EE"/>
                </a:solidFill>
              </a:rPr>
              <a:t>status: WARN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C353E-0C55-43B0-B23D-9C847645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515100"/>
            <a:ext cx="552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F3035-6FAA-4E62-B22B-3CFE344C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72465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022"/>
                </a:solidFill>
              </a:defRPr>
            </a:pPr>
            <a:r>
              <a:rPr sz="1650" b="1">
                <a:solidFill>
                  <a:srgbClr val="132022"/>
                </a:solidFill>
              </a:rPr>
              <a:t>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F662C-3192-4AC5-839E-C0AFDD24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61035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6E6B61"/>
                </a:solidFill>
              </a:defRPr>
            </a:pPr>
            <a:r>
              <a:rPr sz="1800" b="1">
                <a:solidFill>
                  <a:srgbClr val="6E6B61"/>
                </a:solidFill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7BD52-26FF-4E1F-A65E-4C6E2F3C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515100"/>
            <a:ext cx="552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C"/>
          </a:solidFill>
          <a:ln xmlns:a="http://schemas.openxmlformats.org/drawingml/2006/main" w="0">
            <a:solidFill>
              <a:srgbClr val="F3B2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D6CF4-E3A6-45FB-A032-C6029F5A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72465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022"/>
                </a:solidFill>
              </a:defRPr>
            </a:pPr>
            <a:r>
              <a:rPr sz="1650" b="1">
                <a:solidFill>
                  <a:srgbClr val="132022"/>
                </a:solidFill>
              </a:rPr>
              <a:t>roadmap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A0D1D6-BEDB-4581-BE4E-74AFF81C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124700"/>
            <a:ext cx="552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1312C7-3DB5-4B50-AF5B-678C6FD5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31520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022"/>
                </a:solidFill>
              </a:defRPr>
            </a:pPr>
            <a:r>
              <a:rPr sz="1650" b="1">
                <a:solidFill>
                  <a:srgbClr val="132022"/>
                </a:solidFill>
              </a:rPr>
              <a:t>owners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867ECB-B0FD-43A9-ADB6-4C2A7A31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720090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6E6B61"/>
                </a:solidFill>
              </a:defRPr>
            </a:pPr>
            <a:r>
              <a:rPr sz="1800" b="1">
                <a:solidFill>
                  <a:srgbClr val="6E6B61"/>
                </a:solidFill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5989F0-6D18-466C-87A0-9BA099E1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124700"/>
            <a:ext cx="552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A10A2B-8B36-4B3D-BF34-3D2E8B71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731520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022"/>
                </a:solidFill>
              </a:defRPr>
            </a:pPr>
            <a:r>
              <a:rPr sz="1650" b="1">
                <a:solidFill>
                  <a:srgbClr val="132022"/>
                </a:solidFill>
              </a:rPr>
              <a:t>deps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FAE130-FF8E-497E-9D8E-3D9B0214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38600"/>
            <a:ext cx="866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32022"/>
                </a:solidFill>
              </a:defRPr>
            </a:pPr>
            <a:r>
              <a:rPr sz="3900" b="1">
                <a:solidFill>
                  <a:srgbClr val="132022"/>
                </a:solidFill>
              </a:rPr>
              <a:t>Impact 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FCC699-FDEF-408E-9955-BE2B3DC1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625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A6EBA5-0177-4118-B727-B97978DE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8401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Risk and confidence separated.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6B20A1-6180-470C-AFE0-A73E793F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3340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2860D0-2244-40F0-AB18-5F06DEE4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34000"/>
            <a:ext cx="8401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Unknowns called out instead of invented away.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244D46-6390-4D25-9C7C-5C892601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9055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B08289-E3F0-417F-A77B-CB471111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905500"/>
            <a:ext cx="8401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Reviewers and tests suggested from evidence.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491C4A-4910-4647-BE79-6F2B9268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4770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9AA5CE-ED32-4B85-8880-A45651C1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77000"/>
            <a:ext cx="8401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No source, PR, deployment, or roadmap mutation in V1.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217774-C4BF-487E-A839-1B70C97F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72009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A2A2B7-2290-4CFB-8AF6-4D3FFC01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7067550"/>
            <a:ext cx="2247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6E6B61"/>
                </a:solidFill>
              </a:defRPr>
            </a:pPr>
            <a:r>
              <a:rPr sz="1500" b="1">
                <a:solidFill>
                  <a:srgbClr val="6E6B61"/>
                </a:solidFill>
              </a:rPr>
              <a:t>planned future capability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78861D-9AD2-40A1-B6F9-792538B3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9A9386"/>
                </a:solidFill>
              </a:defRPr>
            </a:pPr>
            <a:r>
              <a:rPr sz="1050" b="0">
                <a:solidFill>
                  <a:srgbClr val="9A9386"/>
                </a:solidFill>
              </a:rPr>
              <a:t>Blueprint team talk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5D7B85-D8F5-47A4-A319-A898904D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95821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D8D0C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489355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D774B4F5-4020-45F7-916E-6FFA4FC6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87293A6E-4560-44A9-B034-5F16A062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0">
            <a:solidFill>
              <a:srgbClr val="00B8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71CCA-6D04-441B-AC07-C0A0CA49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6B4A"/>
                </a:solidFill>
              </a:defRPr>
            </a:pPr>
            <a:r>
              <a:rPr sz="1350" b="1">
                <a:solidFill>
                  <a:srgbClr val="FF6B4A"/>
                </a:solidFill>
              </a:rPr>
              <a:t>Adoption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54F7C-FFDE-4ECD-B27D-C8F2C4B7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6611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32022"/>
                </a:solidFill>
              </a:defRPr>
            </a:pPr>
            <a:r>
              <a:rPr sz="4650" b="1">
                <a:solidFill>
                  <a:srgbClr val="132022"/>
                </a:solidFill>
              </a:rPr>
              <a:t>Try it on one bounded real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5C356-C5B5-4030-A6C9-202649EB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661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6E6B61"/>
                </a:solidFill>
              </a:defRPr>
            </a:pPr>
            <a:r>
              <a:rPr sz="2100" b="0">
                <a:solidFill>
                  <a:srgbClr val="6E6B61"/>
                </a:solidFill>
              </a:rPr>
              <a:t>Judge Blueprint by evidence quality, resumability, and review confidence - not by demo magic.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92C69-0257-4BE6-B3D6-9526000B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7981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FF6B4A"/>
                </a:solidFill>
              </a:defRPr>
            </a:pPr>
            <a:r>
              <a:rPr sz="4050" b="1">
                <a:solidFill>
                  <a:srgbClr val="FF6B4A"/>
                </a:solidFill>
              </a:rPr>
              <a:t>Pilot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A6F97-1C7D-4495-93B5-475D2A19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25198-2057-4A56-ADF6-6723042B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771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Small enough to finish.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E2D1C-1748-4550-A20B-1ADB4CAC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05A63-5642-48FD-B9DF-FC515D65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76900"/>
            <a:ext cx="771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Real enough to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E38FB-7A62-492E-B954-EB23FFFB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484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70ACF-17F0-4024-8C5B-0BCEC141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48400"/>
            <a:ext cx="771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Has one meaningful uncertainty.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3F12E-4799-40AF-8FA7-923491D0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199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C1B79-3BFB-463A-94CA-358094D6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819900"/>
            <a:ext cx="771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32022"/>
                </a:solidFill>
              </a:defRPr>
            </a:pPr>
            <a:r>
              <a:rPr sz="2025" b="0">
                <a:solidFill>
                  <a:srgbClr val="132022"/>
                </a:solidFill>
              </a:rPr>
              <a:t>Leaves artifacts the next person can trust.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89361-7E22-4637-9363-6DB9DC36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48100"/>
            <a:ext cx="7981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00B8D9"/>
                </a:solidFill>
              </a:defRPr>
            </a:pPr>
            <a:r>
              <a:rPr sz="4050" b="1">
                <a:solidFill>
                  <a:srgbClr val="00B8D9"/>
                </a:solidFill>
              </a:rPr>
              <a:t>Demo path</a:t>
            </a:r>
          </a:p>
        </p:txBody>
      </p:sp>
      <p:sp>
        <p:nvSpPr>
          <p:cNvPr id="16" name="terminal">
            <a:extLst xmlns:a="http://schemas.openxmlformats.org/drawingml/2006/main">
              <a:ext uri="{FF2B5EF4-FFF2-40B4-BE49-F238E27FC236}">
                <a16:creationId xmlns:a16="http://schemas.microsoft.com/office/drawing/2014/main" id="{150DF8D4-42AA-44B4-B7AC-B4414090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629150"/>
            <a:ext cx="7972425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32022"/>
          </a:solidFill>
          <a:ln xmlns:a="http://schemas.openxmlformats.org/drawingml/2006/main" w="19050">
            <a:solidFill>
              <a:srgbClr val="1D2D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B51B4-1D22-41F4-BA66-169FCC46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76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3FB97-AA86-42F3-A139-0751B468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876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C"/>
          </a:solidFill>
          <a:ln xmlns:a="http://schemas.openxmlformats.org/drawingml/2006/main" w="0">
            <a:solidFill>
              <a:srgbClr val="F3B2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EA8E33-6DDA-4DDA-A93C-8BD723FC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876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D6A0"/>
          </a:solidFill>
          <a:ln xmlns:a="http://schemas.openxmlformats.org/drawingml/2006/main" w="0">
            <a:solidFill>
              <a:srgbClr val="64D6A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C6EFEA-3DB2-479C-9D18-64CC5658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62550"/>
            <a:ext cx="7334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FFF9EE"/>
                </a:solidFill>
              </a:defRPr>
            </a:pPr>
            <a:r>
              <a:rPr sz="1950" b="0">
                <a:solidFill>
                  <a:srgbClr val="FFF9EE"/>
                </a:solidFill>
              </a:rPr>
              <a:t>/blu-map-codebase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59F777-410B-4DE5-BA68-C31F1B8B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62600"/>
            <a:ext cx="7334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FFF9EE"/>
                </a:solidFill>
              </a:defRPr>
            </a:pPr>
            <a:r>
              <a:rPr sz="1950" b="0">
                <a:solidFill>
                  <a:srgbClr val="FFF9EE"/>
                </a:solidFill>
              </a:rPr>
              <a:t>/blu-new-project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531BD7-728B-43B7-A4B6-E4D53371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62650"/>
            <a:ext cx="7334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FFF9EE"/>
                </a:solidFill>
              </a:defRPr>
            </a:pPr>
            <a:r>
              <a:rPr sz="1950" b="0">
                <a:solidFill>
                  <a:srgbClr val="FFF9EE"/>
                </a:solidFill>
              </a:rPr>
              <a:t>/blu-discuss-phase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5A3C5-E368-480E-8A00-36C34183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7334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FFF9EE"/>
                </a:solidFill>
              </a:defRPr>
            </a:pPr>
            <a:r>
              <a:rPr sz="1950" b="0">
                <a:solidFill>
                  <a:srgbClr val="FFF9EE"/>
                </a:solidFill>
              </a:rPr>
              <a:t>/blu-plan-phase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0F8F01-84F1-4961-9531-EEE92976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762750"/>
            <a:ext cx="7334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FFF9EE"/>
                </a:solidFill>
              </a:defRPr>
            </a:pPr>
            <a:r>
              <a:rPr sz="1950" b="0">
                <a:solidFill>
                  <a:srgbClr val="FFF9EE"/>
                </a:solidFill>
              </a:rPr>
              <a:t>/blu-execute-phase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D705E9-287D-4F77-A481-8BD85436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62800"/>
            <a:ext cx="7334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FFF9EE"/>
                </a:solidFill>
              </a:defRPr>
            </a:pPr>
            <a:r>
              <a:rPr sz="1950" b="0">
                <a:solidFill>
                  <a:srgbClr val="FFF9EE"/>
                </a:solidFill>
              </a:rPr>
              <a:t>/blu-validate-phase 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E4EDDC-5CFC-486D-B386-F7D8B09E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9A9386"/>
                </a:solidFill>
              </a:defRPr>
            </a:pPr>
            <a:r>
              <a:rPr sz="1050" b="0">
                <a:solidFill>
                  <a:srgbClr val="9A9386"/>
                </a:solidFill>
              </a:rPr>
              <a:t>Blueprint team talk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FF7851-1B86-44D1-9AC3-C5B731FC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95821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D8D0C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57850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2026-04-28T12:56:10.9780000Z</dcterms:created>
  <dcterms:modified xsi:type="dcterms:W3CDTF">2026-04-28T12:56:10.9780000Z</dcterms:modified>
</coreProperties>
</file>