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2786f251fb4398" /><Relationship Type="http://schemas.openxmlformats.org/officeDocument/2006/relationships/extended-properties" Target="/docProps/app.xml" Id="R9ca6943628244199" /><Relationship Type="http://schemas.openxmlformats.org/officeDocument/2006/relationships/officeDocument" Target="/ppt/presentation.xml" Id="R849270f3814042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091c505dc74af0"/>
  </p:sldMasterIdLst>
  <p:notesMasterIdLst>
    <p:notesMasterId xmlns:r="http://schemas.openxmlformats.org/officeDocument/2006/relationships" r:id="R57f16ed177124a9e"/>
  </p:notesMasterIdLst>
  <p:sldIdLst>
    <p:sldId xmlns:r="http://schemas.openxmlformats.org/officeDocument/2006/relationships" id="256" r:id="Rc2b7c3fe8e934b46"/>
    <p:sldId xmlns:r="http://schemas.openxmlformats.org/officeDocument/2006/relationships" id="257" r:id="R860fd356636b4079"/>
    <p:sldId xmlns:r="http://schemas.openxmlformats.org/officeDocument/2006/relationships" id="258" r:id="Ree4ec8dc91874027"/>
    <p:sldId xmlns:r="http://schemas.openxmlformats.org/officeDocument/2006/relationships" id="259" r:id="Rb67a797ea45240df"/>
    <p:sldId xmlns:r="http://schemas.openxmlformats.org/officeDocument/2006/relationships" id="260" r:id="Rf36124130669458c"/>
    <p:sldId xmlns:r="http://schemas.openxmlformats.org/officeDocument/2006/relationships" id="261" r:id="R0ce44fe9da4943b1"/>
    <p:sldId xmlns:r="http://schemas.openxmlformats.org/officeDocument/2006/relationships" id="262" r:id="R6d3a3a96e4f94ac2"/>
    <p:sldId xmlns:r="http://schemas.openxmlformats.org/officeDocument/2006/relationships" id="263" r:id="R8c6acc364e3046ea"/>
    <p:sldId xmlns:r="http://schemas.openxmlformats.org/officeDocument/2006/relationships" id="264" r:id="R2948049e77b343f1"/>
    <p:sldId xmlns:r="http://schemas.openxmlformats.org/officeDocument/2006/relationships" id="265" r:id="R8d9bd91eca36424e"/>
    <p:sldId xmlns:r="http://schemas.openxmlformats.org/officeDocument/2006/relationships" id="266" r:id="Rd068408e699d4ac4"/>
    <p:sldId xmlns:r="http://schemas.openxmlformats.org/officeDocument/2006/relationships" id="267" r:id="R3ebc83480f164080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091c505dc74af0" /><Relationship Type="http://schemas.openxmlformats.org/officeDocument/2006/relationships/theme" Target="/ppt/theme/theme1.xml" Id="R4addf3fc882f49da" /><Relationship Type="http://schemas.openxmlformats.org/officeDocument/2006/relationships/notesMaster" Target="/ppt/notesMasters/notesMaster1.xml" Id="R57f16ed177124a9e" /><Relationship Type="http://schemas.openxmlformats.org/officeDocument/2006/relationships/presProps" Target="/ppt/presProps.xml" Id="Rb75c15bc98af458e" /><Relationship Type="http://schemas.openxmlformats.org/officeDocument/2006/relationships/viewProps" Target="/ppt/viewProps.xml" Id="R5347144597d84ad2" /><Relationship Type="http://schemas.openxmlformats.org/officeDocument/2006/relationships/tableStyles" Target="/ppt/tableStyles.xml" Id="R06a01d122afa4af7" /><Relationship Type="http://schemas.openxmlformats.org/officeDocument/2006/relationships/slide" Target="/ppt/slides/slide1.xml" Id="Rc2b7c3fe8e934b46" /><Relationship Type="http://schemas.openxmlformats.org/officeDocument/2006/relationships/slide" Target="/ppt/slides/slide2.xml" Id="R860fd356636b4079" /><Relationship Type="http://schemas.openxmlformats.org/officeDocument/2006/relationships/slide" Target="/ppt/slides/slide3.xml" Id="Ree4ec8dc91874027" /><Relationship Type="http://schemas.openxmlformats.org/officeDocument/2006/relationships/slide" Target="/ppt/slides/slide4.xml" Id="Rb67a797ea45240df" /><Relationship Type="http://schemas.openxmlformats.org/officeDocument/2006/relationships/slide" Target="/ppt/slides/slide5.xml" Id="Rf36124130669458c" /><Relationship Type="http://schemas.openxmlformats.org/officeDocument/2006/relationships/slide" Target="/ppt/slides/slide6.xml" Id="R0ce44fe9da4943b1" /><Relationship Type="http://schemas.openxmlformats.org/officeDocument/2006/relationships/slide" Target="/ppt/slides/slide7.xml" Id="R6d3a3a96e4f94ac2" /><Relationship Type="http://schemas.openxmlformats.org/officeDocument/2006/relationships/slide" Target="/ppt/slides/slide8.xml" Id="R8c6acc364e3046ea" /><Relationship Type="http://schemas.openxmlformats.org/officeDocument/2006/relationships/slide" Target="/ppt/slides/slide9.xml" Id="R2948049e77b343f1" /><Relationship Type="http://schemas.openxmlformats.org/officeDocument/2006/relationships/slide" Target="/ppt/slides/slide10.xml" Id="R8d9bd91eca36424e" /><Relationship Type="http://schemas.openxmlformats.org/officeDocument/2006/relationships/slide" Target="/ppt/slides/slide11.xml" Id="Rd068408e699d4ac4" /><Relationship Type="http://schemas.openxmlformats.org/officeDocument/2006/relationships/slide" Target="/ppt/slides/slide12.xml" Id="R3ebc83480f1640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a90e7ff7e84c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b6c795f29a446f" /><Relationship Type="http://schemas.openxmlformats.org/officeDocument/2006/relationships/notesMaster" Target="/ppt/notesMasters/notesMaster1.xml" Id="R2c5e9264dd4f46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2848a1a94c4146" /><Relationship Type="http://schemas.openxmlformats.org/officeDocument/2006/relationships/notesMaster" Target="/ppt/notesMasters/notesMaster1.xml" Id="R0cc98f8ede8b44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276b975e7a47ef" /><Relationship Type="http://schemas.openxmlformats.org/officeDocument/2006/relationships/notesMaster" Target="/ppt/notesMasters/notesMaster1.xml" Id="R1a49447d40784e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ace02db131464b" /><Relationship Type="http://schemas.openxmlformats.org/officeDocument/2006/relationships/notesMaster" Target="/ppt/notesMasters/notesMaster1.xml" Id="R41a3cac85e064e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64e18734034e96" /><Relationship Type="http://schemas.openxmlformats.org/officeDocument/2006/relationships/notesMaster" Target="/ppt/notesMasters/notesMaster1.xml" Id="R8914519980c34e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c20413e81c4c40" /><Relationship Type="http://schemas.openxmlformats.org/officeDocument/2006/relationships/notesMaster" Target="/ppt/notesMasters/notesMaster1.xml" Id="Rd8d060801add43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ce544686604de5" /><Relationship Type="http://schemas.openxmlformats.org/officeDocument/2006/relationships/notesMaster" Target="/ppt/notesMasters/notesMaster1.xml" Id="Raef3ff77b91c49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ca9e897cd14aa3" /><Relationship Type="http://schemas.openxmlformats.org/officeDocument/2006/relationships/notesMaster" Target="/ppt/notesMasters/notesMaster1.xml" Id="Rc62d163e52434e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b1a26ff0ba42fe" /><Relationship Type="http://schemas.openxmlformats.org/officeDocument/2006/relationships/notesMaster" Target="/ppt/notesMasters/notesMaster1.xml" Id="R04cc510d2bd44f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1f1521c51a440d" /><Relationship Type="http://schemas.openxmlformats.org/officeDocument/2006/relationships/notesMaster" Target="/ppt/notesMasters/notesMaster1.xml" Id="Red395b0a37f546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dcf8300d9d4315" /><Relationship Type="http://schemas.openxmlformats.org/officeDocument/2006/relationships/notesMaster" Target="/ppt/notesMasters/notesMaster1.xml" Id="R808dc8de32b649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457d04edb4a4440" /><Relationship Type="http://schemas.openxmlformats.org/officeDocument/2006/relationships/notesMaster" Target="/ppt/notesMasters/notesMaster1.xml" Id="Ra6886626999b4b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positioning Blueprint as workflow infrastructure, not a magic code generator. The promise is continuity: when the chat resets or the human changes, the repo still knows what happened.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for a quick show of hands. The point is not to debate agents yet; it is to let the team name the operational risks that Blueprint is designed around.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conversational. Everyone has seen code appear quickly; the pain starts when the team has to review, resume, or explain it later.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simplest mental model. Blueprint is not replacing engineering judgment; it gives agent sessions a durable operating system inside the repo.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state boundary concrete. Blueprint runtime state is .blueprint, not ad-hoc hidden files and not the extension install directory.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architecture slide to slow down on. The key phrase: commands, skills, and agents orchestrate; MCP owns structured persistence.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trust slide. Docs may describe future work, but the root router and help surfaces stay aligned with runtime availability.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panel trio is an allowed artifact surface: these are actual documents, not generic text boxes. The phrase to land: execution alone is not completion.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overexplain every command. The conceptual split matters more: not all actions have the same blast radius, so Blueprint does not treat them the same.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adoption psychology slide. The goal is not to make agents seem less risky by hand-waving; it is to show how risk becomes visible and discussable.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precise: impact is the next logical capability, but it is not a shipped public command yet. This reinforces the implemented-only routing story rather than undermining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a concrete ask. The live demo can now show the path instead of trying to justify why the path matters.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f4683d393544f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ffc908e7673404d" /><Relationship Type="http://schemas.openxmlformats.org/officeDocument/2006/relationships/slideLayout" Target="/ppt/slideLayouts/slideLayout2.xml" Id="R9ba7677bb1aa48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a7677bb1aa48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80f4892c9e4039" /><Relationship Type="http://schemas.openxmlformats.org/officeDocument/2006/relationships/notesSlide" Target="/ppt/notesSlides/notesSlide1.xml" Id="Rf88b8c81dc6d46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ac4794276f4b75" /><Relationship Type="http://schemas.openxmlformats.org/officeDocument/2006/relationships/notesSlide" Target="/ppt/notesSlides/notesSlide2.xml" Id="Re689018cfe2c4d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2306acca0a4af6" /><Relationship Type="http://schemas.openxmlformats.org/officeDocument/2006/relationships/notesSlide" Target="/ppt/notesSlides/notesSlide3.xml" Id="R3d1a78ea6f1e48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1513a8fe8e4bfe" /><Relationship Type="http://schemas.openxmlformats.org/officeDocument/2006/relationships/notesSlide" Target="/ppt/notesSlides/notesSlide4.xml" Id="Rfe1e52f978074e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140c82732e497a" /><Relationship Type="http://schemas.openxmlformats.org/officeDocument/2006/relationships/notesSlide" Target="/ppt/notesSlides/notesSlide5.xml" Id="R451af6d2734a4a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b1331219ed40e5" /><Relationship Type="http://schemas.openxmlformats.org/officeDocument/2006/relationships/notesSlide" Target="/ppt/notesSlides/notesSlide6.xml" Id="R7ad0339384624f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970b4fbcfd44fb" /><Relationship Type="http://schemas.openxmlformats.org/officeDocument/2006/relationships/notesSlide" Target="/ppt/notesSlides/notesSlide7.xml" Id="Rf5a21659792f45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c95b51fe3e4cfe" /><Relationship Type="http://schemas.openxmlformats.org/officeDocument/2006/relationships/notesSlide" Target="/ppt/notesSlides/notesSlide8.xml" Id="R6d62bea856d84a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9026a69d504c58" /><Relationship Type="http://schemas.openxmlformats.org/officeDocument/2006/relationships/notesSlide" Target="/ppt/notesSlides/notesSlide9.xml" Id="Rf3ddaa0ca6b84c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0b560d20ed4ed3" /><Relationship Type="http://schemas.openxmlformats.org/officeDocument/2006/relationships/notesSlide" Target="/ppt/notesSlides/notesSlide10.xml" Id="R727a5dc2d53a4f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b4d29f38c74ce0" /><Relationship Type="http://schemas.openxmlformats.org/officeDocument/2006/relationships/notesSlide" Target="/ppt/notesSlides/notesSlide11.xml" Id="R70da716ab7184e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d1d67e04614a71" /><Relationship Type="http://schemas.openxmlformats.org/officeDocument/2006/relationships/notesSlide" Target="/ppt/notesSlides/notesSlide12.xml" Id="Rcf2c4f27cf2a427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BAB7C2-B27A-41DA-8442-A957714C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22"/>
          </a:solidFill>
          <a:ln xmlns:a="http://schemas.openxmlformats.org/drawingml/2006/main" w="0">
            <a:solidFill>
              <a:srgbClr val="1320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722A2-062A-489D-B475-75BF0D17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2ACDA-6CBB-4218-A0C7-4C100E79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B7D802-9482-4210-9A44-19B8F986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2819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E6B61"/>
                </a:solidFill>
              </a:defRPr>
            </a:pPr>
            <a:r>
              <a:rPr sz="1500" b="1">
                <a:solidFill>
                  <a:srgbClr val="6E6B61"/>
                </a:solidFill>
              </a:rPr>
              <a:t>Gemini / Tabnine CLI extension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B2E11-A0CA-4870-B985-B1BB475D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850"/>
            <a:ext cx="80391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700" b="1">
                <a:solidFill>
                  <a:srgbClr val="FFF9EE"/>
                </a:solidFill>
              </a:defRPr>
            </a:pPr>
            <a:r>
              <a:rPr sz="8700" b="1">
                <a:solidFill>
                  <a:srgbClr val="FFF9EE"/>
                </a:solidFill>
              </a:rPr>
              <a:t>Blueprint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AB2E9-29D1-47DB-BAF8-AC327727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6000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C9D7D2"/>
                </a:solidFill>
              </a:defRPr>
            </a:pPr>
            <a:r>
              <a:rPr sz="2850" b="0">
                <a:solidFill>
                  <a:srgbClr val="C9D7D2"/>
                </a:solidFill>
              </a:rPr>
              <a:t>Agentic coding that survives the chat window.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5C5A6-EAFA-432F-A7D0-9B8D6B72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10350"/>
            <a:ext cx="4000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8" name="terminal">
            <a:extLst xmlns:a="http://schemas.openxmlformats.org/drawingml/2006/main">
              <a:ext uri="{FF2B5EF4-FFF2-40B4-BE49-F238E27FC236}">
                <a16:creationId xmlns:a16="http://schemas.microsoft.com/office/drawing/2014/main" id="{A40A9D61-5D72-4301-B020-C1E58259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4634" y="2919413"/>
            <a:ext cx="7728966" cy="191452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132022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6C925-4A72-44F2-B72A-E4FDB70C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162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40142-4F06-4EAE-B272-D7CB59A0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162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20077-9800-49E6-A5B4-53CF876E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162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E66045-C2A1-4CB1-9C8F-C5E7021C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448050"/>
            <a:ext cx="7086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9EE"/>
                </a:solidFill>
              </a:defRPr>
            </a:pPr>
            <a:r>
              <a:rPr sz="2175" b="0">
                <a:solidFill>
                  <a:srgbClr val="FFF9EE"/>
                </a:solidFill>
              </a:rPr>
              <a:t>$ /blu-progress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1F4EC-C037-4B90-85F3-A060C341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886200"/>
            <a:ext cx="7086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9EE"/>
                </a:solidFill>
              </a:defRPr>
            </a:pPr>
            <a:r>
              <a:rPr sz="2175" b="0">
                <a:solidFill>
                  <a:srgbClr val="FFF9EE"/>
                </a:solidFill>
              </a:rPr>
              <a:t>state: initialized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D0C69-95C0-426D-8AB3-B4950A59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305300"/>
            <a:ext cx="7086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9EE"/>
                </a:solidFill>
              </a:defRPr>
            </a:pPr>
            <a:r>
              <a:rPr sz="2175" b="0">
                <a:solidFill>
                  <a:srgbClr val="FFF9EE"/>
                </a:solidFill>
              </a:rPr>
              <a:t>next: /blu-discuss-phase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D364F2-1328-4250-85CF-B7E0E690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105400"/>
            <a:ext cx="1143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B1FAD1-4CF0-42AA-A2B8-FECEF74B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2006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9EE"/>
                </a:solidFill>
              </a:defRPr>
            </a:pPr>
            <a:r>
              <a:rPr sz="1875" b="1">
                <a:solidFill>
                  <a:srgbClr val="FFF9EE"/>
                </a:solidFill>
              </a:rPr>
              <a:t>ROADMAP.md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9FB914-9080-4F93-AFF9-7E4368A3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5200650"/>
            <a:ext cx="4419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FE2DD"/>
                </a:solidFill>
              </a:defRPr>
            </a:pPr>
            <a:r>
              <a:rPr sz="1725" b="0">
                <a:solidFill>
                  <a:srgbClr val="CFE2DD"/>
                </a:solidFill>
              </a:rPr>
              <a:t>what we said we would build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098E93-57BD-4CB8-9E34-C9B25BC6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715000"/>
            <a:ext cx="1143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5BC8F5-55BF-4554-90A5-B299555C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8102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9EE"/>
                </a:solidFill>
              </a:defRPr>
            </a:pPr>
            <a:r>
              <a:rPr sz="1875" b="1">
                <a:solidFill>
                  <a:srgbClr val="FFF9EE"/>
                </a:solidFill>
              </a:rPr>
              <a:t>STATE.md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43B243-A7E7-4128-BC46-6E281D3F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5810250"/>
            <a:ext cx="4419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FE2DD"/>
                </a:solidFill>
              </a:defRPr>
            </a:pPr>
            <a:r>
              <a:rPr sz="1725" b="0">
                <a:solidFill>
                  <a:srgbClr val="CFE2DD"/>
                </a:solidFill>
              </a:rPr>
              <a:t>where the workflow is waiting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D5147-8CDA-45D4-90C3-5DAAD46C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6324600"/>
            <a:ext cx="1143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34C359-9F9A-40EF-8A06-5CB95B3F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9EE"/>
                </a:solidFill>
              </a:defRPr>
            </a:pPr>
            <a:r>
              <a:rPr sz="1875" b="1">
                <a:solidFill>
                  <a:srgbClr val="FFF9EE"/>
                </a:solidFill>
              </a:rPr>
              <a:t>XX-PLAN.md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37DCD7-FCC2-46E9-90F8-99406ADD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419850"/>
            <a:ext cx="4419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FE2DD"/>
                </a:solidFill>
              </a:defRPr>
            </a:pPr>
            <a:r>
              <a:rPr sz="1725" b="0">
                <a:solidFill>
                  <a:srgbClr val="CFE2DD"/>
                </a:solidFill>
              </a:rPr>
              <a:t>how the agent should execute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AC14BF-335E-4A6C-8144-A93F4FEA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6934200"/>
            <a:ext cx="1143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6771AA-CC11-49B6-8ACE-59A512C5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70294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9EE"/>
                </a:solidFill>
              </a:defRPr>
            </a:pPr>
            <a:r>
              <a:rPr sz="1875" b="1">
                <a:solidFill>
                  <a:srgbClr val="FFF9EE"/>
                </a:solidFill>
              </a:rPr>
              <a:t>XX-REVIEW.md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BB5EF3-B141-4030-8B2B-BB4C59F1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029450"/>
            <a:ext cx="4419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FE2DD"/>
                </a:solidFill>
              </a:defRPr>
            </a:pPr>
            <a:r>
              <a:rPr sz="1725" b="0">
                <a:solidFill>
                  <a:srgbClr val="CFE2DD"/>
                </a:solidFill>
              </a:rPr>
              <a:t>what reviewers can inspect</a:t>
            </a:r>
          </a:p>
        </p:txBody>
      </p:sp>
    </p:spTree>
    <p:extLst>
      <p:ext uri="{BB962C8B-B14F-4D97-AF65-F5344CB8AC3E}">
        <p14:creationId xmlns:p14="http://schemas.microsoft.com/office/powerpoint/2010/main" val="13329244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7807CC63-075A-4392-9534-2757E6DE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C7531671-ECBE-40B1-9555-1E9CDCE3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D80D4-4870-47FD-8766-92A58EC2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Audience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99A02-898D-4C44-AD4A-9E477829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Where will agents fail us first?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D66FFF-3D9E-4944-83B8-319BF065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A thirty-second poll before the machinery shows up.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A43250-0E32-4889-8DAB-D1417943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704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B8D9"/>
                </a:solidFill>
              </a:defRPr>
            </a:pPr>
            <a:r>
              <a:rPr sz="4350" b="1">
                <a:solidFill>
                  <a:srgbClr val="00B8D9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8BCD8-5223-4A17-8D04-9C85A953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57600"/>
            <a:ext cx="7067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32022"/>
                </a:solidFill>
              </a:defRPr>
            </a:pPr>
            <a:r>
              <a:rPr sz="2550" b="1">
                <a:solidFill>
                  <a:srgbClr val="132022"/>
                </a:solidFill>
              </a:rPr>
              <a:t>Lost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4F19F-FCB8-4AA6-93C3-981C4599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3860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15D40-7EF5-4FAA-84B4-896E6564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581400"/>
            <a:ext cx="704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6B4A"/>
                </a:solidFill>
              </a:defRPr>
            </a:pPr>
            <a:r>
              <a:rPr sz="4350" b="1">
                <a:solidFill>
                  <a:srgbClr val="FF6B4A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163F02-F6B1-4A26-B341-CFBF4882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657600"/>
            <a:ext cx="7067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32022"/>
                </a:solidFill>
              </a:defRPr>
            </a:pPr>
            <a:r>
              <a:rPr sz="2550" b="1">
                <a:solidFill>
                  <a:srgbClr val="132022"/>
                </a:solidFill>
              </a:rPr>
              <a:t>Unsafe edits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FF768-26A7-49C7-A6CD-067D0F01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03860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6559A-97DB-4E2A-8BF1-2ED9AA6D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334250"/>
            <a:ext cx="704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3B23C"/>
                </a:solidFill>
              </a:defRPr>
            </a:pPr>
            <a:r>
              <a:rPr sz="4350" b="1">
                <a:solidFill>
                  <a:srgbClr val="F3B23C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705A06-E09F-40C4-BC1C-9E92D896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7410450"/>
            <a:ext cx="7067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32022"/>
                </a:solidFill>
              </a:defRPr>
            </a:pPr>
            <a:r>
              <a:rPr sz="2550" b="1">
                <a:solidFill>
                  <a:srgbClr val="132022"/>
                </a:solidFill>
              </a:rPr>
              <a:t>Weak review confidence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8A602-B9B8-4C6C-910B-15EAE569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779145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41CC7C-C319-491B-8BE8-7CED06AF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7334250"/>
            <a:ext cx="704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64D6A0"/>
                </a:solidFill>
              </a:defRPr>
            </a:pPr>
            <a:r>
              <a:rPr sz="4350" b="1">
                <a:solidFill>
                  <a:srgbClr val="64D6A0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55D60-9BF7-4576-9B82-5BD41E44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410450"/>
            <a:ext cx="7067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32022"/>
                </a:solidFill>
              </a:defRPr>
            </a:pPr>
            <a:r>
              <a:rPr sz="2550" b="1">
                <a:solidFill>
                  <a:srgbClr val="132022"/>
                </a:solidFill>
              </a:rPr>
              <a:t>Handoff gaps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C1732-0D4A-4559-996A-B503C22D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79145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25AA8-C8AE-4223-86EF-7F2749D0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6B903-AEB3-4D63-BFE2-2E82F745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402250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A3CD5601-A697-47F7-AC48-1C5776BF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389F9CE6-D5CC-40E1-B948-C4A06639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31C3B-ADAB-4751-8FC2-DDE98128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Reframe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6702D-77CD-41C9-80F1-6A400E50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The new problem is not code generation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7E869-B0A9-42B2-96A8-8F476F95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Agents can produce code. Team work needs the missing middle around the code.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68723-DABE-4953-8425-D11C2C60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6229350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32022"/>
                </a:solidFill>
              </a:defRPr>
            </a:pPr>
            <a:r>
              <a:rPr sz="3600" b="1">
                <a:solidFill>
                  <a:srgbClr val="132022"/>
                </a:solidFill>
              </a:rPr>
              <a:t>The hard part is preserving intent, scope, decisions, and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67A18-9DE0-4998-9841-C253C445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626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C9C09-109C-40ED-A661-6B4FEFAE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62600"/>
            <a:ext cx="6305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What did we agree to build?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F9DAB-C59B-4D9F-A9F6-7A41CBDD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341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74BE18-175C-44D8-AE04-7CA3D684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6305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What changed while we built it?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BD441-AA9F-47A4-BB6D-4DE5786E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7056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0A5A80-4856-4D90-80C4-DB378670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705600"/>
            <a:ext cx="6305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How do we know it is done?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EE1DDF-0593-4234-8971-91EFB9CC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771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4886FA-477F-4EC9-BD12-B054B9B8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7277100"/>
            <a:ext cx="6305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What should the next person trust?</a:t>
            </a:r>
          </a:p>
        </p:txBody>
      </p:sp>
      <p:sp>
        <p:nvSpPr>
          <p:cNvPr id="15" name="terminal">
            <a:extLst xmlns:a="http://schemas.openxmlformats.org/drawingml/2006/main">
              <a:ext uri="{FF2B5EF4-FFF2-40B4-BE49-F238E27FC236}">
                <a16:creationId xmlns:a16="http://schemas.microsoft.com/office/drawing/2014/main" id="{DF3C3519-EB78-4B43-A44D-EABA7F0A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19600"/>
            <a:ext cx="9486900" cy="191452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132022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C82BA-23ED-4F98-9C12-F7157D8E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67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E8196-8D64-4141-88AB-624F92C5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67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32F891-C302-4A71-BA20-6589DE14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667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6AB35-9A18-4653-8EE7-17FC3368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953000"/>
            <a:ext cx="883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9EE"/>
                </a:solidFill>
              </a:defRPr>
            </a:pPr>
            <a:r>
              <a:rPr sz="2175" b="0">
                <a:solidFill>
                  <a:srgbClr val="FFF9EE"/>
                </a:solidFill>
              </a:rPr>
              <a:t>&gt; write the feature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75832-BCD4-4305-B13D-642C4B41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391150"/>
            <a:ext cx="883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9EE"/>
                </a:solidFill>
              </a:defRPr>
            </a:pPr>
            <a:r>
              <a:rPr sz="2175" b="0">
                <a:solidFill>
                  <a:srgbClr val="FFF9EE"/>
                </a:solidFill>
              </a:rPr>
              <a:t>agent: done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1E9A37-D673-467F-A7DF-50BA1C01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810250"/>
            <a:ext cx="883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9EE"/>
                </a:solidFill>
              </a:defRPr>
            </a:pPr>
            <a:r>
              <a:rPr sz="2175" b="0">
                <a:solidFill>
                  <a:srgbClr val="FFF9EE"/>
                </a:solidFill>
              </a:rPr>
              <a:t>human: wait, what exactly changed?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58E2CE-C152-4B99-8648-602277FB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6675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7B4578-7791-4CD0-81F8-C3796280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8770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prompt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8808C-EF77-43E5-B98D-6DA4D1A9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7627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40DA57-67DA-473C-9876-9839E596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BA7E4E-ED84-4487-BCE5-D23EC600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8770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3E8363-A171-4547-95DC-4A97011E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9150" y="67627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D7BF16-70EB-44CC-8D3D-095EE377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66675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FC5B98-7DC3-4DF3-B860-460A54C4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68770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missing plan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237178-73AE-4E41-9CEC-AA409CEE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67627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489055-6E66-4372-965B-D04B1C8C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66675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683AF3-69DB-4B09-801D-1763495B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68770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missing proof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A2FE4D-5112-4BA1-B85E-01D600C3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4D819F-2FA2-4239-9F8E-37F0A82E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709583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5FD3DF28-3D8C-417D-93D3-9F4BDCC3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FE8E4DAB-1A00-45EB-82D1-B8EDE22F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5599E-06FE-42EA-A940-77DC3DF7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One sentence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6E0E8-4BA4-4215-8158-E9DB497B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Blueprint turns agent work into a repo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019E6-E2D1-4D75-A217-913EE651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A CLI extension for roadmap, phase planning, execution, validation, review, and shipping artifacts.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8122B2-B2B2-4BCE-B410-2D4803A8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72050"/>
            <a:ext cx="11239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4655BB-F92C-49BC-AE75-D90C942C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16611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32022"/>
                </a:solidFill>
              </a:defRPr>
            </a:pPr>
            <a:r>
              <a:rPr sz="2775" b="1">
                <a:solidFill>
                  <a:srgbClr val="132022"/>
                </a:solidFill>
              </a:rPr>
              <a:t>idea -&gt; roadmap -&gt; plan -&gt; execute -&gt; validate -&gt; review -&gt; ship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BB4D1-CC67-498B-B2F7-CD6F87D4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15050"/>
            <a:ext cx="1661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32022"/>
                </a:solidFill>
              </a:defRPr>
            </a:pPr>
            <a:r>
              <a:rPr sz="3300" b="1">
                <a:solidFill>
                  <a:srgbClr val="132022"/>
                </a:solidFill>
              </a:rPr>
              <a:t>The agent is still doing work. Blueprint makes the work inspectable.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39807-3A95-47DB-942F-780CC78C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CBDBE-4D8C-42DB-B524-DA79F376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9891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A9429F6F-B20B-4A89-B992-A8D0968B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ADDC9E60-7A4E-4DAF-9414-672A0A8C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80917-8974-4547-8A03-753934D0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Repo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C13D6-76A6-4BB6-B44D-A15EA2DC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.blueprint/ lives beside the code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E0E18-B452-4448-92FB-6785A18A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Planning state is versioned, reviewable, and resumable instead of trapped in one conversation.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470D6-E565-45D9-B076-F6D5128B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55054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32022"/>
                </a:solidFill>
              </a:defRPr>
            </a:pPr>
            <a:r>
              <a:rPr sz="3750" b="1">
                <a:solidFill>
                  <a:srgbClr val="132022"/>
                </a:solidFill>
              </a:rPr>
              <a:t>The repository becomes the memory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BD70CE-137F-4843-A694-29220173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40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C073C-0D8C-4B7F-B4C0-3E85DDAF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14950"/>
            <a:ext cx="6267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Project intent is visible.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E6AFD-1553-4CBC-AACA-E15B51B5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6C0DA-3C1C-4ABE-8B48-99D3B56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86450"/>
            <a:ext cx="6267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The next action is explicit.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55B30B-57A0-4F75-AB5F-95C325A0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770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7ACC9-6224-4A08-9FA9-C4CD382A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457950"/>
            <a:ext cx="6267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Evidence survives a reset.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3F9B9C-B389-491E-832E-7F75CE60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485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31D9A-35C1-4E0C-9C54-204B17C9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7029450"/>
            <a:ext cx="6267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Review has artifacts, not folklore.</a:t>
            </a:r>
          </a:p>
        </p:txBody>
      </p:sp>
      <p:sp>
        <p:nvSpPr>
          <p:cNvPr id="15" name="terminal">
            <a:extLst xmlns:a="http://schemas.openxmlformats.org/drawingml/2006/main">
              <a:ext uri="{FF2B5EF4-FFF2-40B4-BE49-F238E27FC236}">
                <a16:creationId xmlns:a16="http://schemas.microsoft.com/office/drawing/2014/main" id="{34F629BB-EE20-4ED5-A343-782F1AD9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578" y="3543300"/>
            <a:ext cx="9396222" cy="44196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32022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D2BB98-32EF-4D36-A214-9301FBC7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696559-5E9D-4162-A00A-BE937C49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97A52-236A-4F8E-AA25-3DB0B480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BDEC05-E65C-492C-90B5-80B89124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767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.blueprint/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AD83F2-0EAA-4198-AF6F-E0BABB21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958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PROJECT.md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1640DB-B25C-4D74-AABE-CD540EC9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149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REQUIREMENTS.md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D5E67C-46A2-44C7-A6EC-3F5971E3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ROADMAP.md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BDF97A-D050-478F-AE4A-77478BBE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7531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STATE.md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DF4D07-0C29-42E6-B77A-4671FA7C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61722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phases/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B95A47-47A7-4D9E-B1C0-5EE3CD24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65913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reports/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876098-1655-4E49-8EAA-549546F9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0104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codebase/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310EAB-610B-4DCC-9BD3-D090EE19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429500"/>
            <a:ext cx="874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  notes/ todos/ backlog/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9158AB-F5D2-417F-A9F6-98417080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2538D-F4CC-4FF7-8E25-EC53350E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117082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3F5F5134-34A8-47F5-8948-510A6D57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5C8A97E2-CB17-4111-8CA2-05D9B9B1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7B453-58C0-4FDF-9D10-1A2BC9E8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Runtime shape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F5578-5F5C-4B00-9BE4-AD07401D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Thin commands, durable state engine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96211-EAD7-400D-B234-2A000BE0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Each layer has a job, so prompt text does not become the database.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B2006-E391-4EB9-AAAC-C71A4834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666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6B4A"/>
                </a:solidFill>
              </a:defRPr>
            </a:pPr>
            <a:r>
              <a:rPr sz="2550" b="1">
                <a:solidFill>
                  <a:srgbClr val="FF6B4A"/>
                </a:solidFill>
              </a:rPr>
              <a:t>Commands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5EF44-C56B-4405-A409-C4E33549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38600"/>
            <a:ext cx="9601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32022"/>
                </a:solidFill>
              </a:defRPr>
            </a:pPr>
            <a:r>
              <a:rPr sz="2250" b="0">
                <a:solidFill>
                  <a:srgbClr val="132022"/>
                </a:solidFill>
              </a:rPr>
              <a:t>User-facing UX, routing, confirmations, recovery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B1655-F3CB-435D-9D80-75263189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666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3B23C"/>
                </a:solidFill>
              </a:defRPr>
            </a:pPr>
            <a:r>
              <a:rPr sz="2550" b="1">
                <a:solidFill>
                  <a:srgbClr val="F3B23C"/>
                </a:solidFill>
              </a:rPr>
              <a:t>Skills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E345B-6824-4C65-8A2F-492A4E3F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9601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32022"/>
                </a:solidFill>
              </a:defRPr>
            </a:pPr>
            <a:r>
              <a:rPr sz="2250" b="0">
                <a:solidFill>
                  <a:srgbClr val="132022"/>
                </a:solidFill>
              </a:rPr>
              <a:t>Reusable orchestration contracts for command families.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C2491-E0F8-487B-A251-0CBB074F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666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5CFF"/>
                </a:solidFill>
              </a:defRPr>
            </a:pPr>
            <a:r>
              <a:rPr sz="2550" b="1">
                <a:solidFill>
                  <a:srgbClr val="7C5CFF"/>
                </a:solidFill>
              </a:rPr>
              <a:t>Agents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6886A-585A-468E-9F65-9C4141F3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105400"/>
            <a:ext cx="9601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32022"/>
                </a:solidFill>
              </a:defRPr>
            </a:pPr>
            <a:r>
              <a:rPr sz="2250" b="0">
                <a:solidFill>
                  <a:srgbClr val="132022"/>
                </a:solidFill>
              </a:rPr>
              <a:t>Bounded deep work: mapping, planning, execution,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489CEB-14D4-46C2-A7E3-13DE7087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666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B8D9"/>
                </a:solidFill>
              </a:defRPr>
            </a:pPr>
            <a:r>
              <a:rPr sz="2550" b="1">
                <a:solidFill>
                  <a:srgbClr val="00B8D9"/>
                </a:solidFill>
              </a:rPr>
              <a:t>MCP tools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ED0FC7-040E-41E9-8CA1-F8EA096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38800"/>
            <a:ext cx="9601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32022"/>
                </a:solidFill>
              </a:defRPr>
            </a:pPr>
            <a:r>
              <a:rPr sz="2250" b="0">
                <a:solidFill>
                  <a:srgbClr val="132022"/>
                </a:solidFill>
              </a:rPr>
              <a:t>Deterministic reads and writes, validation, path safety.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27795-32B3-4298-8F08-FFEAD29A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666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64D6A0"/>
                </a:solidFill>
              </a:defRPr>
            </a:pPr>
            <a:r>
              <a:rPr sz="2550" b="1">
                <a:solidFill>
                  <a:srgbClr val="64D6A0"/>
                </a:solidFill>
              </a:rPr>
              <a:t>Hooks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D7E9D6-0F83-4223-A630-F709A569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72200"/>
            <a:ext cx="9601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32022"/>
                </a:solidFill>
              </a:defRPr>
            </a:pPr>
            <a:r>
              <a:rPr sz="2250" b="0">
                <a:solidFill>
                  <a:srgbClr val="132022"/>
                </a:solidFill>
              </a:rPr>
              <a:t>Advisory guardrails, not hidden state ownership.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DA753-C7D4-4801-AF47-206E1514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781800"/>
            <a:ext cx="1661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40424-B65A-4613-B3CB-4A8B5EE8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2009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75FAC3-3F13-4D8A-A567-6DFC9647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181850"/>
            <a:ext cx="1828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E6B61"/>
                </a:solidFill>
              </a:defRPr>
            </a:pPr>
            <a:r>
              <a:rPr sz="1500" b="1">
                <a:solidFill>
                  <a:srgbClr val="6E6B61"/>
                </a:solidFill>
              </a:rPr>
              <a:t>commands stay thin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B8333A-2D1E-4103-A6EF-558F9916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72009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CB00BF-687F-4CD3-B218-26F45C1A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7086600"/>
            <a:ext cx="2095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E6B61"/>
                </a:solidFill>
              </a:defRPr>
            </a:pPr>
            <a:r>
              <a:rPr sz="1500" b="1">
                <a:solidFill>
                  <a:srgbClr val="6E6B61"/>
                </a:solidFill>
              </a:rPr>
              <a:t>MCP owns persistence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3ADFFE-8CFA-4F8A-A48D-5F733C0F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72009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5CFF"/>
          </a:solidFill>
          <a:ln xmlns:a="http://schemas.openxmlformats.org/drawingml/2006/main" w="0">
            <a:solidFill>
              <a:srgbClr val="7C5C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7B5E83-908B-4A7B-99F6-B04E712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7181850"/>
            <a:ext cx="1905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E6B61"/>
                </a:solidFill>
              </a:defRPr>
            </a:pPr>
            <a:r>
              <a:rPr sz="1500" b="1">
                <a:solidFill>
                  <a:srgbClr val="6E6B61"/>
                </a:solidFill>
              </a:rPr>
              <a:t>agents stay bounded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5FDBE5-E961-4A63-82EA-09AB61E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899C40-0CEC-47C2-A9AE-43E13714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0004753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E4AEAF59-7366-4FEE-ADB4-3351F4C6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8BAE7DCD-3272-45F4-AC0A-CF2E0E1C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D64CE-7233-4DFA-860F-EBAF69E5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Routing safety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D2301-E59D-4199-BEBC-FA8528A3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If it is not implemented, Blueprint will not recommend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B1726D-6830-43AB-B389-D8C0D6D0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/blu, /blu-help, and /blu-progress surface only commands whose runtime contract is complete.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D7519-54E6-4042-94CE-86DD0F7A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7962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64D6A0"/>
                </a:solidFill>
              </a:defRPr>
            </a:pPr>
            <a:r>
              <a:rPr sz="3900" b="1">
                <a:solidFill>
                  <a:srgbClr val="64D6A0"/>
                </a:solidFill>
              </a:rPr>
              <a:t>Routable</a:t>
            </a:r>
          </a:p>
        </p:txBody>
      </p:sp>
      <p:sp>
        <p:nvSpPr>
          <p:cNvPr id="7" name="terminal">
            <a:extLst xmlns:a="http://schemas.openxmlformats.org/drawingml/2006/main">
              <a:ext uri="{FF2B5EF4-FFF2-40B4-BE49-F238E27FC236}">
                <a16:creationId xmlns:a16="http://schemas.microsoft.com/office/drawing/2014/main" id="{B6DE1E3B-CBBF-4F46-A3B1-00CA486E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7953375" cy="3752850"/>
          </a:xfrm>
          <a:prstGeom xmlns:a="http://schemas.openxmlformats.org/drawingml/2006/main" prst="roundRect">
            <a:avLst>
              <a:gd name="adj" fmla="val 2030"/>
            </a:avLst>
          </a:prstGeom>
          <a:solidFill xmlns:a="http://schemas.openxmlformats.org/drawingml/2006/main">
            <a:srgbClr val="132022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3F268-29A2-4E13-82B7-BC1B4DB6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95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AAD49-93BC-464C-A29A-BE78750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95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0476B-7F38-4899-B197-FAD2EDEA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3B9E4E-F5EA-4946-BCED-31984DC6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815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status: implemented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B4AB5-821B-4509-A542-D56CE23F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816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manifest: present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1E18B-107D-4749-BCD7-C6CEC85C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primary skill: present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D3330-3191-486D-95D9-AB30D9A7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9626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required MCP tools: present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72222-8DB2-4EF1-8A91-216C36C5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3436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2B52E-FC44-458D-A866-830DB900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7437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/blu-plan-phase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72B5DC-608C-4728-AA0F-C2EBD756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1247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/blu-execute-phase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FF46E1-947B-4F03-A731-8F465CC0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5247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/blu-ship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8A3575-E1CE-443B-A235-DD942FD7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86200"/>
            <a:ext cx="7962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6B4A"/>
                </a:solidFill>
              </a:defRPr>
            </a:pPr>
            <a:r>
              <a:rPr sz="3900" b="1">
                <a:solidFill>
                  <a:srgbClr val="FF6B4A"/>
                </a:solidFill>
              </a:rPr>
              <a:t>Held back</a:t>
            </a:r>
          </a:p>
        </p:txBody>
      </p:sp>
      <p:sp>
        <p:nvSpPr>
          <p:cNvPr id="20" name="terminal">
            <a:extLst xmlns:a="http://schemas.openxmlformats.org/drawingml/2006/main">
              <a:ext uri="{FF2B5EF4-FFF2-40B4-BE49-F238E27FC236}">
                <a16:creationId xmlns:a16="http://schemas.microsoft.com/office/drawing/2014/main" id="{81B3ED81-B48C-4235-8E7D-25E8ABD5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648200"/>
            <a:ext cx="7953375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2B2420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4BBB6-D300-4AA1-A058-A5DDDBDD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87C81C-2292-4BC3-B5A2-39351E54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BA1433-9D25-4E05-94EE-FE223A8F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E563C-BFD1-41B8-BF65-3F0FF459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1816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status: planned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0A6770-0D8F-43CD-8AC0-A269EB53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816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manifest / skill / tools: incomplete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B75F9C-5023-49FE-A79C-556F5863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9626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router: do not advertise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FF8BF6-DA71-4F95-A486-5ACD419C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3627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F103AE-7259-418D-A80C-08CE2237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74370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/blu-impact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4A146A-9C45-47CF-83D9-88528545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7143750"/>
            <a:ext cx="7315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9EE"/>
                </a:solidFill>
              </a:defRPr>
            </a:pPr>
            <a:r>
              <a:rPr sz="1875" b="0">
                <a:solidFill>
                  <a:srgbClr val="FFF9EE"/>
                </a:solidFill>
              </a:rPr>
              <a:t>planned future teaser 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2B064B-92AC-41DB-A304-963F053C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95B344-ED24-4FBF-871D-3D64647E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73969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55543F5D-21BD-4DA7-95AB-04CBB215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BAEE7B71-202E-4D0E-8BE7-9C40E495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83ADF-E4D0-49FC-B719-84854B53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Lifecycle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D8CB5-0319-4186-96B8-4EE39498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Evidence, not vibes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CC462-E16B-41CC-9D9A-64A78D5F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Done means saved execution, validation, UAT, review signals, and the next safe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E2F6E-BDBF-4493-83E3-7BC3CFE1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577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D42950-7D3C-492F-B356-EF9A722A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6672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discuss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788FA8-058D-47D2-913D-3A8AD132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529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DA02D-BABC-4E95-9CD9-5B454FA2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577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32BFED-9246-4BB3-8C32-0A7FCECB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67250"/>
            <a:ext cx="2152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research / UI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BA959-1D9A-47AA-AA9E-860941E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529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CFEFE0-4527-4496-A876-071D9DA7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4577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93582A-A046-45E5-9B46-16047B3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6672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plan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5E1B89-3521-4148-89BE-BE53B192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5529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EDCB1-E688-46B8-AFD3-407C3C7F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4577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5CFF"/>
          </a:solidFill>
          <a:ln xmlns:a="http://schemas.openxmlformats.org/drawingml/2006/main" w="0">
            <a:solidFill>
              <a:srgbClr val="7C5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7457EA-2877-44B5-B75A-CBDBD7A0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7700" y="46672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execute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F4743-4DA8-45ED-8F4A-1907989B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054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56B78D-A129-43E7-84B5-63AD168C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29590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14FF92-5F4F-4A12-91A3-588BE8FA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8160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C2A83A-F83D-4CA8-8F0A-82ECBB36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1054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B7C544-E5C2-415B-B87C-D1E550B9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29590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6A535-EE7B-4841-9A09-5324E888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18160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193CB0-B128-4E20-9DF7-5A9C94F6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51054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2B0B8A-7632-43D6-99A1-A1B8446D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29590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CE189B-4D1D-4F78-9A8E-BD1B8E9D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10275"/>
            <a:ext cx="5270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DF7FA"/>
          </a:solidFill>
          <a:ln xmlns:a="http://schemas.openxmlformats.org/drawingml/2006/main" w="19050">
            <a:solidFill>
              <a:srgbClr val="00B8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CAFCCC-EE7B-4291-AD01-86A8426C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48400"/>
            <a:ext cx="47434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32022"/>
                </a:solidFill>
              </a:defRPr>
            </a:pPr>
            <a:r>
              <a:rPr sz="2250" b="1">
                <a:solidFill>
                  <a:srgbClr val="132022"/>
                </a:solidFill>
              </a:rPr>
              <a:t>XX-PLAN.md</a:t>
            </a:r>
          </a:p>
          <a:p xmlns:a="http://schemas.openxmlformats.org/drawingml/2006/main">
            <a:pPr>
              <a:defRPr sz="2250" b="1">
                <a:solidFill>
                  <a:srgbClr val="132022"/>
                </a:solidFill>
              </a:defRPr>
            </a:pPr>
            <a:r>
              <a:rPr sz="2250" b="1">
                <a:solidFill>
                  <a:srgbClr val="132022"/>
                </a:solidFill>
              </a:rPr>
              <a:t>what to 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49B4EA-011A-44BD-A83D-C778B9C4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6010275"/>
            <a:ext cx="5270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DF5E8"/>
          </a:solidFill>
          <a:ln xmlns:a="http://schemas.openxmlformats.org/drawingml/2006/main" w="19050">
            <a:solidFill>
              <a:srgbClr val="64D6A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16647B-EE3E-482B-8E47-56E40AC6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248400"/>
            <a:ext cx="47434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32022"/>
                </a:solidFill>
              </a:defRPr>
            </a:pPr>
            <a:r>
              <a:rPr sz="2250" b="1">
                <a:solidFill>
                  <a:srgbClr val="132022"/>
                </a:solidFill>
              </a:rPr>
              <a:t>XX-SUMMARY.md</a:t>
            </a:r>
          </a:p>
          <a:p xmlns:a="http://schemas.openxmlformats.org/drawingml/2006/main">
            <a:pPr>
              <a:defRPr sz="2250" b="1">
                <a:solidFill>
                  <a:srgbClr val="132022"/>
                </a:solidFill>
              </a:defRPr>
            </a:pPr>
            <a:r>
              <a:rPr sz="2250" b="1">
                <a:solidFill>
                  <a:srgbClr val="132022"/>
                </a:solidFill>
              </a:rPr>
              <a:t>what changed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CBE6E0-00FC-4DB8-A777-AAAE3033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9300" y="6010275"/>
            <a:ext cx="5270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E3D8"/>
          </a:solidFill>
          <a:ln xmlns:a="http://schemas.openxmlformats.org/drawingml/2006/main" w="19050">
            <a:solidFill>
              <a:srgbClr val="FF6B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2465C9-1F9E-4780-932E-EE40907C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6248400"/>
            <a:ext cx="47434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32022"/>
                </a:solidFill>
              </a:defRPr>
            </a:pPr>
            <a:r>
              <a:rPr sz="2250" b="1">
                <a:solidFill>
                  <a:srgbClr val="132022"/>
                </a:solidFill>
              </a:rPr>
              <a:t>XX-REVIEW.md</a:t>
            </a:r>
          </a:p>
          <a:p xmlns:a="http://schemas.openxmlformats.org/drawingml/2006/main">
            <a:pPr>
              <a:defRPr sz="2250" b="1">
                <a:solidFill>
                  <a:srgbClr val="132022"/>
                </a:solidFill>
              </a:defRPr>
            </a:pPr>
            <a:r>
              <a:rPr sz="2250" b="1">
                <a:solidFill>
                  <a:srgbClr val="132022"/>
                </a:solidFill>
              </a:rPr>
              <a:t>what remains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417B93-A876-407B-BAE1-8A5C3905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E565-BFD5-4E6C-9F90-321281F6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815627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0E990D02-0A6C-456B-83E3-39BD8282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BA8221BC-ED76-432F-85E1-9EB7D5CB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FB2BB-6A07-4BE4-BEBD-02F24FE7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Safety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C8275-9E3A-42A7-BBB6-8D6B2BC4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Different actions deserve different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30804-696D-442B-879F-807648B7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Blueprint separates guidance, report writes, repo edits, and high-risk git or workspace operations.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A1BDD-3478-4699-81AC-1A6F6A90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17145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D9910-7507-44B5-B010-9BE42F6C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2905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32022"/>
                </a:solidFill>
              </a:defRPr>
            </a:pPr>
            <a:r>
              <a:rPr sz="2700" b="1">
                <a:solidFill>
                  <a:srgbClr val="132022"/>
                </a:solidFill>
              </a:rPr>
              <a:t>Read-only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B4B1E-BC74-4531-9C53-ED9AB0E8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67150"/>
            <a:ext cx="1188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/blu-help, /blu-progress, /blu-next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47A0B-AD30-42FF-837E-9BC6F4C3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17145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51C17-2584-43F1-8468-87899BCE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9110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32022"/>
                </a:solidFill>
              </a:defRPr>
            </a:pPr>
            <a:r>
              <a:rPr sz="2700" b="1">
                <a:solidFill>
                  <a:srgbClr val="132022"/>
                </a:solidFill>
              </a:rPr>
              <a:t>Report-backed writes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BD18C-784F-465E-8EDE-9F778750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029200"/>
            <a:ext cx="1188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reviews, docs, milestone reports, planned impact reports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0AFB3-013E-4A7B-8229-ABDF8E81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67400"/>
            <a:ext cx="17145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AA224-6428-4E63-8321-B1709A13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15315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32022"/>
                </a:solidFill>
              </a:defRPr>
            </a:pPr>
            <a:r>
              <a:rPr sz="2700" b="1">
                <a:solidFill>
                  <a:srgbClr val="132022"/>
                </a:solidFill>
              </a:rPr>
              <a:t>Repo mutation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76B84-F369-4264-9763-AD9846A9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6191250"/>
            <a:ext cx="1188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execute-phase, quick, code-review-fix, add-tests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F2815-1D92-4E3C-A75A-A480FE19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86600"/>
            <a:ext cx="17145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05212-41AC-4695-BD82-776C8C63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31520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32022"/>
                </a:solidFill>
              </a:defRPr>
            </a:pPr>
            <a:r>
              <a:rPr sz="2700" b="1">
                <a:solidFill>
                  <a:srgbClr val="132022"/>
                </a:solidFill>
              </a:rPr>
              <a:t>Confirmation-gated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8C768-10F0-49C1-A121-F1614925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7353300"/>
            <a:ext cx="1188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ship, undo, cleanup, workspaces, patch 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E2F093-AC85-45AA-AB13-28143873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85299-C397-469F-A812-9490B1B3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2667471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F0C7EEC9-18F8-4959-97E1-B73D66FB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EC51E035-C4A9-4A08-B15A-E53695E9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9F87D-1D2F-4A6D-B1AB-C7ABFF1B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Team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C240B-4045-42AC-9289-A2C834DD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Team payoff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9EB44-E783-4660-A56F-54EF719A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Less mystery around agent output, more confidence around the work that ships.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C57CD-1F08-467E-A423-8E59CA20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6781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6B4A"/>
                </a:solidFill>
              </a:defRPr>
            </a:pPr>
            <a:r>
              <a:rPr sz="4050" b="1">
                <a:solidFill>
                  <a:srgbClr val="FF6B4A"/>
                </a:solidFill>
              </a:rPr>
              <a:t>Before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1EDC6-576F-492A-837A-E163D7C9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CD416-CB08-453F-9B7B-11F9B75E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6515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Prompt history as source of truth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67D37-8FA9-4818-873D-E05581DE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19808-B191-4DC3-B2D2-03DFE014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76900"/>
            <a:ext cx="6515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Reviewer reconstructs intent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E989F9-C50B-4D43-A0CB-97AE4C52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484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99285-5346-492B-8872-DFD96915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48400"/>
            <a:ext cx="6515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Next session starts cold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AB5DE-6046-4012-8F43-DEC4C25B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199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7F2398-04DD-4862-89FB-DAF58A22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819900"/>
            <a:ext cx="6515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Done is a feeling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8CC7F-65AC-403C-BD27-51B2FFD0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29590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FB5F9A-63C1-4C3E-A75A-DE0FF343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524500"/>
            <a:ext cx="1428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32022"/>
                </a:solidFill>
              </a:defRPr>
            </a:pPr>
            <a:r>
              <a:rPr sz="1800" b="1">
                <a:solidFill>
                  <a:srgbClr val="132022"/>
                </a:solidFill>
              </a:rPr>
              <a:t>repo</a:t>
            </a:r>
          </a:p>
          <a:p xmlns:a="http://schemas.openxmlformats.org/drawingml/2006/main">
            <a:pPr>
              <a:defRPr sz="1800" b="1">
                <a:solidFill>
                  <a:srgbClr val="132022"/>
                </a:solidFill>
              </a:defRPr>
            </a:pPr>
            <a:r>
              <a:rPr sz="1800" b="1">
                <a:solidFill>
                  <a:srgbClr val="132022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12D15-A3ED-40D4-9401-308A8274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17220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FFCABB-FC91-4E92-B818-92C3184E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305300"/>
            <a:ext cx="7486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64D6A0"/>
                </a:solidFill>
              </a:defRPr>
            </a:pPr>
            <a:r>
              <a:rPr sz="4050" b="1">
                <a:solidFill>
                  <a:srgbClr val="64D6A0"/>
                </a:solidFill>
              </a:rPr>
              <a:t>After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F467C1-CC12-4D72-A282-28FD3248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1054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5E2FC6-FA78-40E1-857B-DEACC52A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105400"/>
            <a:ext cx="721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Artifacts carry decisions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A7693C-8790-4E68-9623-C4981EA0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6769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2C0641-45E4-43B8-89F7-ACB48619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676900"/>
            <a:ext cx="721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Review scope is visible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D4B705-7E94-4168-8052-3AC12021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2484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3E7B0B-0028-4FC7-848A-607610DE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6248400"/>
            <a:ext cx="721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Resume has a handoff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019E23-B56D-43F6-91D7-815B1884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8199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6DF6BA-F669-439B-9346-C8D2542B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6819900"/>
            <a:ext cx="721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Done has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56923B-1911-47FD-A6A8-6ED6AABC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D7A061-AF6F-4CA5-9DBE-A4918D80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3849519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A49138CD-00C0-45F3-A902-CBF1BA11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9BF7DAE7-FFAA-4E90-B616-6A5AC021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83555-D57E-41FC-8BAF-CA8EAE76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Future teaser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2D3F6-3703-429E-924F-95B02BD5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/blu-impact: blast radius before merge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3BA91-7B39-453F-885D-062AE20F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Planned, not public yet: changed files plus Blueprint context become an impact report.</a:t>
            </a:r>
          </a:p>
        </p:txBody>
      </p:sp>
      <p:sp>
        <p:nvSpPr>
          <p:cNvPr id="6" name="terminal">
            <a:extLst xmlns:a="http://schemas.openxmlformats.org/drawingml/2006/main">
              <a:ext uri="{FF2B5EF4-FFF2-40B4-BE49-F238E27FC236}">
                <a16:creationId xmlns:a16="http://schemas.microsoft.com/office/drawing/2014/main" id="{1DA9D2D0-69B3-45CE-A948-40BC8E85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7378446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132022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09DC4-784F-4602-8DE3-31D0B4AB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0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F321C5-0052-4C4B-A53D-6272B0DB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10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CACF8-DB92-4567-B6DE-D2EE48E2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0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3C75E5-95F9-402D-8A37-7386DCC3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95800"/>
            <a:ext cx="6724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$ /blu-impact --staged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E23F7-2D7E-42B6-965F-EB024E2D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14900"/>
            <a:ext cx="6724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scope: 12 changed 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598CC-7786-43B8-84E1-1E0B15F1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34000"/>
            <a:ext cx="6724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confidence: partial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BCD44-CCAC-422E-AE44-AC2489E2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753100"/>
            <a:ext cx="6724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9EE"/>
                </a:solidFill>
              </a:defRPr>
            </a:pPr>
            <a:r>
              <a:rPr sz="2100" b="0">
                <a:solidFill>
                  <a:srgbClr val="FFF9EE"/>
                </a:solidFill>
              </a:rPr>
              <a:t>status: WARN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6C353E-0C55-43B0-B23D-9C847645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5151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EF3035-6FAA-4E62-B22B-3CFE344C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7246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7F662C-3192-4AC5-839E-C0AFDD24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6103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17BD52-26FF-4E1F-A65E-4C6E2F3C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5151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3D6CF4-E3A6-45FB-A032-C6029F5A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672465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roadmap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0D1D6-BEDB-4581-BE4E-74AFF81C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71247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1312C7-3DB5-4B50-AF5B-678C6FD5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31520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owners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867ECB-B0FD-43A9-ADB6-4C2A7A31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720090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E6B61"/>
                </a:solidFill>
              </a:defRPr>
            </a:pPr>
            <a:r>
              <a:rPr sz="1800" b="1">
                <a:solidFill>
                  <a:srgbClr val="6E6B61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5989F0-6D18-466C-87A0-9BA099E1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124700"/>
            <a:ext cx="552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5CFF"/>
          </a:solidFill>
          <a:ln xmlns:a="http://schemas.openxmlformats.org/drawingml/2006/main" w="0">
            <a:solidFill>
              <a:srgbClr val="7C5C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A10A2B-8B36-4B3D-BF34-3D2E8B71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7315200"/>
            <a:ext cx="1771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2022"/>
                </a:solidFill>
              </a:defRPr>
            </a:pPr>
            <a:r>
              <a:rPr sz="1650" b="1">
                <a:solidFill>
                  <a:srgbClr val="132022"/>
                </a:solidFill>
              </a:rPr>
              <a:t>deps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FAE130-FF8E-497E-9D8E-3D9B0214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38600"/>
            <a:ext cx="8667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32022"/>
                </a:solidFill>
              </a:defRPr>
            </a:pPr>
            <a:r>
              <a:rPr sz="3900" b="1">
                <a:solidFill>
                  <a:srgbClr val="132022"/>
                </a:solidFill>
              </a:rPr>
              <a:t>Impact 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FCC699-FDEF-408E-9955-BE2B3DC1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625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A6EBA5-0177-4118-B727-B97978DE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762500"/>
            <a:ext cx="840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Risk and confidence separated.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6B20A1-6180-470C-AFE0-A73E793F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3340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2860D0-2244-40F0-AB18-5F06DEE4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334000"/>
            <a:ext cx="840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Unknowns called out instead of invented away.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244D46-6390-4D25-9C7C-5C892601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055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B08289-E3F0-417F-A77B-CB471111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905500"/>
            <a:ext cx="840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Reviewers and tests suggested from evidence.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491C4A-4910-4647-BE79-6F2B9268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4770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9AA5CE-ED32-4B85-8880-A45651C1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77000"/>
            <a:ext cx="840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No source, PR, deployment, or roadmap mutation in V1.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17774-C4BF-487E-A839-1B70C97F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72009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A2A2B7-2290-4CFB-8AF6-4D3FFC01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7067550"/>
            <a:ext cx="2247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E6B61"/>
                </a:solidFill>
              </a:defRPr>
            </a:pPr>
            <a:r>
              <a:rPr sz="1500" b="1">
                <a:solidFill>
                  <a:srgbClr val="6E6B61"/>
                </a:solidFill>
              </a:rPr>
              <a:t>planned future capability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78861D-9AD2-40A1-B6F9-792538B3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5D7B85-D8F5-47A4-A319-A898904D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8489355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vas">
            <a:extLst xmlns:a="http://schemas.openxmlformats.org/drawingml/2006/main">
              <a:ext uri="{FF2B5EF4-FFF2-40B4-BE49-F238E27FC236}">
                <a16:creationId xmlns:a16="http://schemas.microsoft.com/office/drawing/2014/main" id="{D774B4F5-4020-45F7-916E-6FFA4FC6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87293A6E-4560-44A9-B034-5F16A062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71CCA-6D04-441B-AC07-C0A0CA49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4A"/>
                </a:solidFill>
              </a:defRPr>
            </a:pPr>
            <a:r>
              <a:rPr sz="1350" b="1">
                <a:solidFill>
                  <a:srgbClr val="FF6B4A"/>
                </a:solidFill>
              </a:rPr>
              <a:t>Adoption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54F7C-FFDE-4ECD-B27D-C8F2C4B7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2022"/>
                </a:solidFill>
              </a:defRPr>
            </a:pPr>
            <a:r>
              <a:rPr sz="4650" b="1">
                <a:solidFill>
                  <a:srgbClr val="132022"/>
                </a:solidFill>
              </a:rPr>
              <a:t>Try it on one bounded real task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5C356-C5B5-4030-A6C9-202649EB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61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E6B61"/>
                </a:solidFill>
              </a:defRPr>
            </a:pPr>
            <a:r>
              <a:rPr sz="2100" b="0">
                <a:solidFill>
                  <a:srgbClr val="6E6B61"/>
                </a:solidFill>
              </a:rPr>
              <a:t>Judge Blueprint by evidence quality, resumability, and review confidence - not by demo magic.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92C69-0257-4BE6-B3D6-9526000B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79819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6B4A"/>
                </a:solidFill>
              </a:defRPr>
            </a:pPr>
            <a:r>
              <a:rPr sz="4050" b="1">
                <a:solidFill>
                  <a:srgbClr val="FF6B4A"/>
                </a:solidFill>
              </a:rPr>
              <a:t>Pilot criteria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A6F97-1C7D-4495-93B5-475D2A19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25198-2057-4A56-ADF6-6723042B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Small enough to finish.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6E2D1C-1748-4550-A20B-1ADB4CAC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205A63-5642-48FD-B9DF-FC515D65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7690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Real enough to review.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E38FB-7A62-492E-B954-EB23FFFB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484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70ACF-17F0-4024-8C5B-0BCEC141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4840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Has one meaningful uncertainty.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73F12E-4799-40AF-8FA7-923491D0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19900"/>
            <a:ext cx="95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C1B79-3BFB-463A-94CA-358094D6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81990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32022"/>
                </a:solidFill>
              </a:defRPr>
            </a:pPr>
            <a:r>
              <a:rPr sz="2025" b="0">
                <a:solidFill>
                  <a:srgbClr val="132022"/>
                </a:solidFill>
              </a:rPr>
              <a:t>Leaves artifacts the next person can trust.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89361-7E22-4637-9363-6DB9DC36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848100"/>
            <a:ext cx="79819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B8D9"/>
                </a:solidFill>
              </a:defRPr>
            </a:pPr>
            <a:r>
              <a:rPr sz="4050" b="1">
                <a:solidFill>
                  <a:srgbClr val="00B8D9"/>
                </a:solidFill>
              </a:rPr>
              <a:t>Demo path</a:t>
            </a:r>
          </a:p>
        </p:txBody>
      </p:sp>
      <p:sp>
        <p:nvSpPr>
          <p:cNvPr id="16" name="terminal">
            <a:extLst xmlns:a="http://schemas.openxmlformats.org/drawingml/2006/main">
              <a:ext uri="{FF2B5EF4-FFF2-40B4-BE49-F238E27FC236}">
                <a16:creationId xmlns:a16="http://schemas.microsoft.com/office/drawing/2014/main" id="{150DF8D4-42AA-44B4-B7AC-B4414090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629150"/>
            <a:ext cx="7972425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32022"/>
          </a:solidFill>
          <a:ln xmlns:a="http://schemas.openxmlformats.org/drawingml/2006/main" w="19050">
            <a:solidFill>
              <a:srgbClr val="1D2D2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B51B4-1D22-41F4-BA66-169FCC46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solidFill>
              <a:srgbClr val="FF6B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3FB97-AA86-42F3-A139-0751B468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876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23C"/>
          </a:solidFill>
          <a:ln xmlns:a="http://schemas.openxmlformats.org/drawingml/2006/main" w="0">
            <a:solidFill>
              <a:srgbClr val="F3B23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A8E33-6DDA-4DDA-A93C-8BD723FC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876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6A0"/>
          </a:solidFill>
          <a:ln xmlns:a="http://schemas.openxmlformats.org/drawingml/2006/main" w="0">
            <a:solidFill>
              <a:srgbClr val="64D6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6EFEA-3DB2-479C-9D18-64CC5658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162550"/>
            <a:ext cx="733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9EE"/>
                </a:solidFill>
              </a:defRPr>
            </a:pPr>
            <a:r>
              <a:rPr sz="1950" b="0">
                <a:solidFill>
                  <a:srgbClr val="FFF9EE"/>
                </a:solidFill>
              </a:rPr>
              <a:t>/blu-map-codebase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9F777-410B-4DE5-BA68-C31F1B8B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62600"/>
            <a:ext cx="733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9EE"/>
                </a:solidFill>
              </a:defRPr>
            </a:pPr>
            <a:r>
              <a:rPr sz="1950" b="0">
                <a:solidFill>
                  <a:srgbClr val="FFF9EE"/>
                </a:solidFill>
              </a:rPr>
              <a:t>/blu-new-project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531BD7-728B-43B7-A4B6-E4D53371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62650"/>
            <a:ext cx="733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9EE"/>
                </a:solidFill>
              </a:defRPr>
            </a:pPr>
            <a:r>
              <a:rPr sz="1950" b="0">
                <a:solidFill>
                  <a:srgbClr val="FFF9EE"/>
                </a:solidFill>
              </a:rPr>
              <a:t>/blu-discuss-phase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5A3C5-E368-480E-8A00-36C34183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62700"/>
            <a:ext cx="733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9EE"/>
                </a:solidFill>
              </a:defRPr>
            </a:pPr>
            <a:r>
              <a:rPr sz="1950" b="0">
                <a:solidFill>
                  <a:srgbClr val="FFF9EE"/>
                </a:solidFill>
              </a:rPr>
              <a:t>/blu-plan-phase 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0F8F01-84F1-4961-9531-EEE92976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762750"/>
            <a:ext cx="733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9EE"/>
                </a:solidFill>
              </a:defRPr>
            </a:pPr>
            <a:r>
              <a:rPr sz="1950" b="0">
                <a:solidFill>
                  <a:srgbClr val="FFF9EE"/>
                </a:solidFill>
              </a:rPr>
              <a:t>/blu-execute-phase 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D705E9-287D-4F77-A481-8BD85436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7162800"/>
            <a:ext cx="733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9EE"/>
                </a:solidFill>
              </a:defRPr>
            </a:pPr>
            <a:r>
              <a:rPr sz="1950" b="0">
                <a:solidFill>
                  <a:srgbClr val="FFF9EE"/>
                </a:solidFill>
              </a:rPr>
              <a:t>/blu-validate-phase 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E4EDDC-5CFC-486D-B386-F7D8B09E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0"/>
            <a:ext cx="1123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A9386"/>
                </a:solidFill>
              </a:defRPr>
            </a:pPr>
            <a:r>
              <a:rPr sz="1050" b="0">
                <a:solidFill>
                  <a:srgbClr val="9A9386"/>
                </a:solidFill>
              </a:rPr>
              <a:t>Blueprint team talk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F7851-1B86-44D1-9AC3-C5B731FC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3300" y="95821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D8D0C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78509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2026-04-26T07:33:47.6340000Z</dcterms:created>
  <dcterms:modified xsi:type="dcterms:W3CDTF">2026-04-26T07:33:47.6340000Z</dcterms:modified>
</coreProperties>
</file>